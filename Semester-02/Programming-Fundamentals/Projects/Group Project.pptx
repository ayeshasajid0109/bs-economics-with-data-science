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70" r:id="rId10"/>
    <p:sldId id="264" r:id="rId11"/>
    <p:sldId id="265" r:id="rId12"/>
    <p:sldId id="266" r:id="rId13"/>
    <p:sldId id="267" r:id="rId14"/>
    <p:sldId id="268" r:id="rId15"/>
    <p:sldId id="269" r:id="rId16"/>
  </p:sldIdLst>
  <p:sldSz cx="18288000" cy="10287000"/>
  <p:notesSz cx="6858000" cy="9144000"/>
  <p:embeddedFontLst>
    <p:embeddedFont>
      <p:font typeface="Amiko" panose="020B0604020202020204" charset="0"/>
      <p:regular r:id="rId17"/>
    </p:embeddedFont>
    <p:embeddedFont>
      <p:font typeface="Nunito Sans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05" autoAdjust="0"/>
    <p:restoredTop sz="94622" autoAdjust="0"/>
  </p:normalViewPr>
  <p:slideViewPr>
    <p:cSldViewPr>
      <p:cViewPr varScale="1">
        <p:scale>
          <a:sx n="52" d="100"/>
          <a:sy n="52" d="100"/>
        </p:scale>
        <p:origin x="109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Freeform 2"/>
          <p:cNvSpPr/>
          <p:nvPr/>
        </p:nvSpPr>
        <p:spPr>
          <a:xfrm>
            <a:off x="9583365" y="6257806"/>
            <a:ext cx="10093406" cy="6000989"/>
          </a:xfrm>
          <a:custGeom>
            <a:avLst/>
            <a:gdLst/>
            <a:ahLst/>
            <a:cxnLst/>
            <a:rect l="l" t="t" r="r" b="b"/>
            <a:pathLst>
              <a:path w="10093406" h="6000989">
                <a:moveTo>
                  <a:pt x="0" y="0"/>
                </a:moveTo>
                <a:lnTo>
                  <a:pt x="10093406" y="0"/>
                </a:lnTo>
                <a:lnTo>
                  <a:pt x="10093406" y="6000988"/>
                </a:lnTo>
                <a:lnTo>
                  <a:pt x="0" y="600098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H="1" flipV="1">
            <a:off x="-3265860" y="-1023938"/>
            <a:ext cx="10093406" cy="6000989"/>
          </a:xfrm>
          <a:custGeom>
            <a:avLst/>
            <a:gdLst/>
            <a:ahLst/>
            <a:cxnLst/>
            <a:rect l="l" t="t" r="r" b="b"/>
            <a:pathLst>
              <a:path w="10093406" h="6000989">
                <a:moveTo>
                  <a:pt x="10093406" y="6000989"/>
                </a:moveTo>
                <a:lnTo>
                  <a:pt x="0" y="6000989"/>
                </a:lnTo>
                <a:lnTo>
                  <a:pt x="0" y="0"/>
                </a:lnTo>
                <a:lnTo>
                  <a:pt x="10093406" y="0"/>
                </a:lnTo>
                <a:lnTo>
                  <a:pt x="10093406" y="6000989"/>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1749240">
            <a:off x="14107833" y="8613248"/>
            <a:ext cx="2252125" cy="1126062"/>
          </a:xfrm>
          <a:custGeom>
            <a:avLst/>
            <a:gdLst/>
            <a:ahLst/>
            <a:cxnLst/>
            <a:rect l="l" t="t" r="r" b="b"/>
            <a:pathLst>
              <a:path w="2252125" h="1126062">
                <a:moveTo>
                  <a:pt x="0" y="0"/>
                </a:moveTo>
                <a:lnTo>
                  <a:pt x="2252124" y="0"/>
                </a:lnTo>
                <a:lnTo>
                  <a:pt x="2252124" y="1126062"/>
                </a:lnTo>
                <a:lnTo>
                  <a:pt x="0" y="112606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1749240" flipV="1">
            <a:off x="1905275" y="650043"/>
            <a:ext cx="2128989" cy="1064495"/>
          </a:xfrm>
          <a:custGeom>
            <a:avLst/>
            <a:gdLst/>
            <a:ahLst/>
            <a:cxnLst/>
            <a:rect l="l" t="t" r="r" b="b"/>
            <a:pathLst>
              <a:path w="2128989" h="1064495">
                <a:moveTo>
                  <a:pt x="0" y="1064495"/>
                </a:moveTo>
                <a:lnTo>
                  <a:pt x="2128989" y="1064495"/>
                </a:lnTo>
                <a:lnTo>
                  <a:pt x="2128989" y="0"/>
                </a:lnTo>
                <a:lnTo>
                  <a:pt x="0" y="0"/>
                </a:lnTo>
                <a:lnTo>
                  <a:pt x="0" y="106449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6491586" y="8853488"/>
            <a:ext cx="2364581" cy="2364581"/>
          </a:xfrm>
          <a:custGeom>
            <a:avLst/>
            <a:gdLst/>
            <a:ahLst/>
            <a:cxnLst/>
            <a:rect l="l" t="t" r="r" b="b"/>
            <a:pathLst>
              <a:path w="2364581" h="2364581">
                <a:moveTo>
                  <a:pt x="0" y="0"/>
                </a:moveTo>
                <a:lnTo>
                  <a:pt x="2364581" y="0"/>
                </a:lnTo>
                <a:lnTo>
                  <a:pt x="2364581" y="2364581"/>
                </a:lnTo>
                <a:lnTo>
                  <a:pt x="0" y="236458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869488" y="-983397"/>
            <a:ext cx="2364581" cy="2364581"/>
          </a:xfrm>
          <a:custGeom>
            <a:avLst/>
            <a:gdLst/>
            <a:ahLst/>
            <a:cxnLst/>
            <a:rect l="l" t="t" r="r" b="b"/>
            <a:pathLst>
              <a:path w="2364581" h="2364581">
                <a:moveTo>
                  <a:pt x="0" y="0"/>
                </a:moveTo>
                <a:lnTo>
                  <a:pt x="2364581" y="0"/>
                </a:lnTo>
                <a:lnTo>
                  <a:pt x="2364581" y="2364582"/>
                </a:lnTo>
                <a:lnTo>
                  <a:pt x="0" y="23645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3873402" y="1140461"/>
            <a:ext cx="9656288" cy="1436397"/>
          </a:xfrm>
          <a:prstGeom prst="rect">
            <a:avLst/>
          </a:prstGeom>
        </p:spPr>
        <p:txBody>
          <a:bodyPr lIns="0" tIns="0" rIns="0" bIns="0" rtlCol="0" anchor="t">
            <a:spAutoFit/>
          </a:bodyPr>
          <a:lstStyle/>
          <a:p>
            <a:pPr algn="ctr">
              <a:lnSpc>
                <a:spcPts val="10801"/>
              </a:lnSpc>
            </a:pPr>
            <a:endParaRPr/>
          </a:p>
        </p:txBody>
      </p:sp>
      <p:sp>
        <p:nvSpPr>
          <p:cNvPr id="9" name="TextBox 9"/>
          <p:cNvSpPr txBox="1"/>
          <p:nvPr/>
        </p:nvSpPr>
        <p:spPr>
          <a:xfrm>
            <a:off x="4779524" y="6125376"/>
            <a:ext cx="6959136" cy="448310"/>
          </a:xfrm>
          <a:prstGeom prst="rect">
            <a:avLst/>
          </a:prstGeom>
        </p:spPr>
        <p:txBody>
          <a:bodyPr lIns="0" tIns="0" rIns="0" bIns="0" rtlCol="0" anchor="t">
            <a:spAutoFit/>
          </a:bodyPr>
          <a:lstStyle/>
          <a:p>
            <a:pPr algn="ctr">
              <a:lnSpc>
                <a:spcPts val="3399"/>
              </a:lnSpc>
            </a:pPr>
            <a:endParaRPr/>
          </a:p>
        </p:txBody>
      </p:sp>
      <p:sp>
        <p:nvSpPr>
          <p:cNvPr id="10" name="TextBox 10"/>
          <p:cNvSpPr txBox="1"/>
          <p:nvPr/>
        </p:nvSpPr>
        <p:spPr>
          <a:xfrm>
            <a:off x="503800" y="3561685"/>
            <a:ext cx="16395492" cy="2983133"/>
          </a:xfrm>
          <a:prstGeom prst="rect">
            <a:avLst/>
          </a:prstGeom>
        </p:spPr>
        <p:txBody>
          <a:bodyPr lIns="0" tIns="0" rIns="0" bIns="0" rtlCol="0" anchor="t">
            <a:spAutoFit/>
          </a:bodyPr>
          <a:lstStyle/>
          <a:p>
            <a:pPr algn="ctr">
              <a:lnSpc>
                <a:spcPts val="7716"/>
              </a:lnSpc>
              <a:spcBef>
                <a:spcPct val="0"/>
              </a:spcBef>
            </a:pPr>
            <a:r>
              <a:rPr lang="en-US" sz="7716" b="1">
                <a:solidFill>
                  <a:srgbClr val="03275A"/>
                </a:solidFill>
                <a:latin typeface="Nunito Sans Bold"/>
                <a:ea typeface="Nunito Sans Bold"/>
                <a:cs typeface="Nunito Sans Bold"/>
                <a:sym typeface="Nunito Sans Bold"/>
              </a:rPr>
              <a:t>ECONOMIC SURVEY MANAGEMENT SYSTEM USING </a:t>
            </a:r>
          </a:p>
          <a:p>
            <a:pPr algn="ctr">
              <a:lnSpc>
                <a:spcPts val="7716"/>
              </a:lnSpc>
              <a:spcBef>
                <a:spcPct val="0"/>
              </a:spcBef>
            </a:pPr>
            <a:r>
              <a:rPr lang="en-US" sz="7716" b="1">
                <a:solidFill>
                  <a:srgbClr val="03275A"/>
                </a:solidFill>
                <a:latin typeface="Nunito Sans Bold"/>
                <a:ea typeface="Nunito Sans Bold"/>
                <a:cs typeface="Nunito Sans Bold"/>
                <a:sym typeface="Nunito Sans Bold"/>
              </a:rPr>
              <a:t>C LANGUAGE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Freeform 2"/>
          <p:cNvSpPr/>
          <p:nvPr/>
        </p:nvSpPr>
        <p:spPr>
          <a:xfrm>
            <a:off x="9583365" y="6257806"/>
            <a:ext cx="10093406" cy="6000989"/>
          </a:xfrm>
          <a:custGeom>
            <a:avLst/>
            <a:gdLst/>
            <a:ahLst/>
            <a:cxnLst/>
            <a:rect l="l" t="t" r="r" b="b"/>
            <a:pathLst>
              <a:path w="10093406" h="6000989">
                <a:moveTo>
                  <a:pt x="0" y="0"/>
                </a:moveTo>
                <a:lnTo>
                  <a:pt x="10093406" y="0"/>
                </a:lnTo>
                <a:lnTo>
                  <a:pt x="10093406" y="6000988"/>
                </a:lnTo>
                <a:lnTo>
                  <a:pt x="0" y="600098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H="1" flipV="1">
            <a:off x="-3265860" y="-1023938"/>
            <a:ext cx="10093406" cy="6000989"/>
          </a:xfrm>
          <a:custGeom>
            <a:avLst/>
            <a:gdLst/>
            <a:ahLst/>
            <a:cxnLst/>
            <a:rect l="l" t="t" r="r" b="b"/>
            <a:pathLst>
              <a:path w="10093406" h="6000989">
                <a:moveTo>
                  <a:pt x="10093406" y="6000989"/>
                </a:moveTo>
                <a:lnTo>
                  <a:pt x="0" y="6000989"/>
                </a:lnTo>
                <a:lnTo>
                  <a:pt x="0" y="0"/>
                </a:lnTo>
                <a:lnTo>
                  <a:pt x="10093406" y="0"/>
                </a:lnTo>
                <a:lnTo>
                  <a:pt x="10093406" y="6000989"/>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1749240">
            <a:off x="14107833" y="8613248"/>
            <a:ext cx="2252125" cy="1126062"/>
          </a:xfrm>
          <a:custGeom>
            <a:avLst/>
            <a:gdLst/>
            <a:ahLst/>
            <a:cxnLst/>
            <a:rect l="l" t="t" r="r" b="b"/>
            <a:pathLst>
              <a:path w="2252125" h="1126062">
                <a:moveTo>
                  <a:pt x="0" y="0"/>
                </a:moveTo>
                <a:lnTo>
                  <a:pt x="2252124" y="0"/>
                </a:lnTo>
                <a:lnTo>
                  <a:pt x="2252124" y="1126062"/>
                </a:lnTo>
                <a:lnTo>
                  <a:pt x="0" y="112606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1749240" flipV="1">
            <a:off x="1905275" y="650043"/>
            <a:ext cx="2128989" cy="1064495"/>
          </a:xfrm>
          <a:custGeom>
            <a:avLst/>
            <a:gdLst/>
            <a:ahLst/>
            <a:cxnLst/>
            <a:rect l="l" t="t" r="r" b="b"/>
            <a:pathLst>
              <a:path w="2128989" h="1064495">
                <a:moveTo>
                  <a:pt x="0" y="1064495"/>
                </a:moveTo>
                <a:lnTo>
                  <a:pt x="2128989" y="1064495"/>
                </a:lnTo>
                <a:lnTo>
                  <a:pt x="2128989" y="0"/>
                </a:lnTo>
                <a:lnTo>
                  <a:pt x="0" y="0"/>
                </a:lnTo>
                <a:lnTo>
                  <a:pt x="0" y="106449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6491586" y="8853488"/>
            <a:ext cx="2364581" cy="2364581"/>
          </a:xfrm>
          <a:custGeom>
            <a:avLst/>
            <a:gdLst/>
            <a:ahLst/>
            <a:cxnLst/>
            <a:rect l="l" t="t" r="r" b="b"/>
            <a:pathLst>
              <a:path w="2364581" h="2364581">
                <a:moveTo>
                  <a:pt x="0" y="0"/>
                </a:moveTo>
                <a:lnTo>
                  <a:pt x="2364581" y="0"/>
                </a:lnTo>
                <a:lnTo>
                  <a:pt x="2364581" y="2364581"/>
                </a:lnTo>
                <a:lnTo>
                  <a:pt x="0" y="236458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869488" y="-983397"/>
            <a:ext cx="2364581" cy="2364581"/>
          </a:xfrm>
          <a:custGeom>
            <a:avLst/>
            <a:gdLst/>
            <a:ahLst/>
            <a:cxnLst/>
            <a:rect l="l" t="t" r="r" b="b"/>
            <a:pathLst>
              <a:path w="2364581" h="2364581">
                <a:moveTo>
                  <a:pt x="0" y="0"/>
                </a:moveTo>
                <a:lnTo>
                  <a:pt x="2364581" y="0"/>
                </a:lnTo>
                <a:lnTo>
                  <a:pt x="2364581" y="2364582"/>
                </a:lnTo>
                <a:lnTo>
                  <a:pt x="0" y="23645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4591936" y="2613422"/>
            <a:ext cx="8307712" cy="1356798"/>
          </a:xfrm>
          <a:prstGeom prst="rect">
            <a:avLst/>
          </a:prstGeom>
        </p:spPr>
        <p:txBody>
          <a:bodyPr lIns="0" tIns="0" rIns="0" bIns="0" rtlCol="0" anchor="t">
            <a:spAutoFit/>
          </a:bodyPr>
          <a:lstStyle/>
          <a:p>
            <a:pPr algn="ctr">
              <a:lnSpc>
                <a:spcPts val="10292"/>
              </a:lnSpc>
            </a:pPr>
            <a:r>
              <a:rPr lang="en-US" sz="10292" b="1">
                <a:solidFill>
                  <a:srgbClr val="03275A"/>
                </a:solidFill>
                <a:latin typeface="Nunito Sans Bold"/>
                <a:ea typeface="Nunito Sans Bold"/>
                <a:cs typeface="Nunito Sans Bold"/>
                <a:sym typeface="Nunito Sans Bold"/>
              </a:rPr>
              <a:t>OUR TEAM</a:t>
            </a:r>
          </a:p>
        </p:txBody>
      </p:sp>
      <p:sp>
        <p:nvSpPr>
          <p:cNvPr id="9" name="TextBox 9"/>
          <p:cNvSpPr txBox="1"/>
          <p:nvPr/>
        </p:nvSpPr>
        <p:spPr>
          <a:xfrm>
            <a:off x="5266224" y="5525126"/>
            <a:ext cx="6959136" cy="445770"/>
          </a:xfrm>
          <a:prstGeom prst="rect">
            <a:avLst/>
          </a:prstGeom>
        </p:spPr>
        <p:txBody>
          <a:bodyPr lIns="0" tIns="0" rIns="0" bIns="0" rtlCol="0" anchor="t">
            <a:spAutoFit/>
          </a:bodyPr>
          <a:lstStyle/>
          <a:p>
            <a:pPr algn="just">
              <a:lnSpc>
                <a:spcPts val="3300"/>
              </a:lnSpc>
            </a:pPr>
            <a:r>
              <a:rPr lang="en-US" sz="3300">
                <a:solidFill>
                  <a:srgbClr val="03275A"/>
                </a:solidFill>
                <a:latin typeface="Amiko"/>
                <a:ea typeface="Amiko"/>
                <a:cs typeface="Amiko"/>
                <a:sym typeface="Amiko"/>
              </a:rPr>
              <a:t>AYESHA SAJID (FA25-BED-036)</a:t>
            </a:r>
          </a:p>
        </p:txBody>
      </p:sp>
      <p:sp>
        <p:nvSpPr>
          <p:cNvPr id="10" name="TextBox 10"/>
          <p:cNvSpPr txBox="1"/>
          <p:nvPr/>
        </p:nvSpPr>
        <p:spPr>
          <a:xfrm>
            <a:off x="5266224" y="4735296"/>
            <a:ext cx="7357344" cy="445770"/>
          </a:xfrm>
          <a:prstGeom prst="rect">
            <a:avLst/>
          </a:prstGeom>
        </p:spPr>
        <p:txBody>
          <a:bodyPr lIns="0" tIns="0" rIns="0" bIns="0" rtlCol="0" anchor="t">
            <a:spAutoFit/>
          </a:bodyPr>
          <a:lstStyle/>
          <a:p>
            <a:pPr algn="just">
              <a:lnSpc>
                <a:spcPts val="3300"/>
              </a:lnSpc>
            </a:pPr>
            <a:r>
              <a:rPr lang="en-US" sz="3300">
                <a:solidFill>
                  <a:srgbClr val="03275A"/>
                </a:solidFill>
                <a:latin typeface="Amiko"/>
                <a:ea typeface="Amiko"/>
                <a:cs typeface="Amiko"/>
                <a:sym typeface="Amiko"/>
              </a:rPr>
              <a:t>AYESHA ANJUM (FA25_BED_035)</a:t>
            </a:r>
          </a:p>
        </p:txBody>
      </p:sp>
      <p:sp>
        <p:nvSpPr>
          <p:cNvPr id="11" name="TextBox 11"/>
          <p:cNvSpPr txBox="1"/>
          <p:nvPr/>
        </p:nvSpPr>
        <p:spPr>
          <a:xfrm>
            <a:off x="5266224" y="6314956"/>
            <a:ext cx="6959136" cy="445770"/>
          </a:xfrm>
          <a:prstGeom prst="rect">
            <a:avLst/>
          </a:prstGeom>
        </p:spPr>
        <p:txBody>
          <a:bodyPr lIns="0" tIns="0" rIns="0" bIns="0" rtlCol="0" anchor="t">
            <a:spAutoFit/>
          </a:bodyPr>
          <a:lstStyle/>
          <a:p>
            <a:pPr algn="just">
              <a:lnSpc>
                <a:spcPts val="3300"/>
              </a:lnSpc>
            </a:pPr>
            <a:r>
              <a:rPr lang="en-US" sz="3300">
                <a:solidFill>
                  <a:srgbClr val="03275A"/>
                </a:solidFill>
                <a:latin typeface="Amiko"/>
                <a:ea typeface="Amiko"/>
                <a:cs typeface="Amiko"/>
                <a:sym typeface="Amiko"/>
              </a:rPr>
              <a:t>ILSA ALI (FA25_BED_059)</a:t>
            </a:r>
          </a:p>
        </p:txBody>
      </p:sp>
      <p:sp>
        <p:nvSpPr>
          <p:cNvPr id="12" name="TextBox 12"/>
          <p:cNvSpPr txBox="1"/>
          <p:nvPr/>
        </p:nvSpPr>
        <p:spPr>
          <a:xfrm>
            <a:off x="5266224" y="7103626"/>
            <a:ext cx="6959136" cy="445770"/>
          </a:xfrm>
          <a:prstGeom prst="rect">
            <a:avLst/>
          </a:prstGeom>
        </p:spPr>
        <p:txBody>
          <a:bodyPr lIns="0" tIns="0" rIns="0" bIns="0" rtlCol="0" anchor="t">
            <a:spAutoFit/>
          </a:bodyPr>
          <a:lstStyle/>
          <a:p>
            <a:pPr algn="just">
              <a:lnSpc>
                <a:spcPts val="3300"/>
              </a:lnSpc>
            </a:pPr>
            <a:r>
              <a:rPr lang="en-US" sz="3300">
                <a:solidFill>
                  <a:srgbClr val="03275A"/>
                </a:solidFill>
                <a:latin typeface="Amiko"/>
                <a:ea typeface="Amiko"/>
                <a:cs typeface="Amiko"/>
                <a:sym typeface="Amiko"/>
              </a:rPr>
              <a:t>KIRAN GULZAR (FA25_BED_062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Freeform 2"/>
          <p:cNvSpPr/>
          <p:nvPr/>
        </p:nvSpPr>
        <p:spPr>
          <a:xfrm>
            <a:off x="9583365" y="6257806"/>
            <a:ext cx="10093406" cy="6000989"/>
          </a:xfrm>
          <a:custGeom>
            <a:avLst/>
            <a:gdLst/>
            <a:ahLst/>
            <a:cxnLst/>
            <a:rect l="l" t="t" r="r" b="b"/>
            <a:pathLst>
              <a:path w="10093406" h="6000989">
                <a:moveTo>
                  <a:pt x="0" y="0"/>
                </a:moveTo>
                <a:lnTo>
                  <a:pt x="10093406" y="0"/>
                </a:lnTo>
                <a:lnTo>
                  <a:pt x="10093406" y="6000988"/>
                </a:lnTo>
                <a:lnTo>
                  <a:pt x="0" y="600098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H="1" flipV="1">
            <a:off x="-3265860" y="-1023938"/>
            <a:ext cx="10093406" cy="6000989"/>
          </a:xfrm>
          <a:custGeom>
            <a:avLst/>
            <a:gdLst/>
            <a:ahLst/>
            <a:cxnLst/>
            <a:rect l="l" t="t" r="r" b="b"/>
            <a:pathLst>
              <a:path w="10093406" h="6000989">
                <a:moveTo>
                  <a:pt x="10093406" y="6000989"/>
                </a:moveTo>
                <a:lnTo>
                  <a:pt x="0" y="6000989"/>
                </a:lnTo>
                <a:lnTo>
                  <a:pt x="0" y="0"/>
                </a:lnTo>
                <a:lnTo>
                  <a:pt x="10093406" y="0"/>
                </a:lnTo>
                <a:lnTo>
                  <a:pt x="10093406" y="6000989"/>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1749240">
            <a:off x="14107833" y="8613248"/>
            <a:ext cx="2252125" cy="1126062"/>
          </a:xfrm>
          <a:custGeom>
            <a:avLst/>
            <a:gdLst/>
            <a:ahLst/>
            <a:cxnLst/>
            <a:rect l="l" t="t" r="r" b="b"/>
            <a:pathLst>
              <a:path w="2252125" h="1126062">
                <a:moveTo>
                  <a:pt x="0" y="0"/>
                </a:moveTo>
                <a:lnTo>
                  <a:pt x="2252124" y="0"/>
                </a:lnTo>
                <a:lnTo>
                  <a:pt x="2252124" y="1126062"/>
                </a:lnTo>
                <a:lnTo>
                  <a:pt x="0" y="112606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1749240" flipV="1">
            <a:off x="1905275" y="650043"/>
            <a:ext cx="2128989" cy="1064495"/>
          </a:xfrm>
          <a:custGeom>
            <a:avLst/>
            <a:gdLst/>
            <a:ahLst/>
            <a:cxnLst/>
            <a:rect l="l" t="t" r="r" b="b"/>
            <a:pathLst>
              <a:path w="2128989" h="1064495">
                <a:moveTo>
                  <a:pt x="0" y="1064495"/>
                </a:moveTo>
                <a:lnTo>
                  <a:pt x="2128989" y="1064495"/>
                </a:lnTo>
                <a:lnTo>
                  <a:pt x="2128989" y="0"/>
                </a:lnTo>
                <a:lnTo>
                  <a:pt x="0" y="0"/>
                </a:lnTo>
                <a:lnTo>
                  <a:pt x="0" y="106449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6491586" y="8853488"/>
            <a:ext cx="2364581" cy="2364581"/>
          </a:xfrm>
          <a:custGeom>
            <a:avLst/>
            <a:gdLst/>
            <a:ahLst/>
            <a:cxnLst/>
            <a:rect l="l" t="t" r="r" b="b"/>
            <a:pathLst>
              <a:path w="2364581" h="2364581">
                <a:moveTo>
                  <a:pt x="0" y="0"/>
                </a:moveTo>
                <a:lnTo>
                  <a:pt x="2364581" y="0"/>
                </a:lnTo>
                <a:lnTo>
                  <a:pt x="2364581" y="2364581"/>
                </a:lnTo>
                <a:lnTo>
                  <a:pt x="0" y="236458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869488" y="-983397"/>
            <a:ext cx="2364581" cy="2364581"/>
          </a:xfrm>
          <a:custGeom>
            <a:avLst/>
            <a:gdLst/>
            <a:ahLst/>
            <a:cxnLst/>
            <a:rect l="l" t="t" r="r" b="b"/>
            <a:pathLst>
              <a:path w="2364581" h="2364581">
                <a:moveTo>
                  <a:pt x="0" y="0"/>
                </a:moveTo>
                <a:lnTo>
                  <a:pt x="2364581" y="0"/>
                </a:lnTo>
                <a:lnTo>
                  <a:pt x="2364581" y="2364582"/>
                </a:lnTo>
                <a:lnTo>
                  <a:pt x="0" y="23645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3910210" y="1402933"/>
            <a:ext cx="10998524" cy="1356798"/>
          </a:xfrm>
          <a:prstGeom prst="rect">
            <a:avLst/>
          </a:prstGeom>
        </p:spPr>
        <p:txBody>
          <a:bodyPr lIns="0" tIns="0" rIns="0" bIns="0" rtlCol="0" anchor="t">
            <a:spAutoFit/>
          </a:bodyPr>
          <a:lstStyle/>
          <a:p>
            <a:pPr algn="ctr">
              <a:lnSpc>
                <a:spcPts val="10292"/>
              </a:lnSpc>
            </a:pPr>
            <a:r>
              <a:rPr lang="en-US" sz="10292" b="1">
                <a:solidFill>
                  <a:srgbClr val="03275A"/>
                </a:solidFill>
                <a:latin typeface="Nunito Sans Bold"/>
                <a:ea typeface="Nunito Sans Bold"/>
                <a:cs typeface="Nunito Sans Bold"/>
                <a:sym typeface="Nunito Sans Bold"/>
              </a:rPr>
              <a:t>ABSTRACT</a:t>
            </a:r>
          </a:p>
        </p:txBody>
      </p:sp>
      <p:sp>
        <p:nvSpPr>
          <p:cNvPr id="9" name="TextBox 9"/>
          <p:cNvSpPr txBox="1"/>
          <p:nvPr/>
        </p:nvSpPr>
        <p:spPr>
          <a:xfrm>
            <a:off x="718982" y="2354738"/>
            <a:ext cx="16385459" cy="7263643"/>
          </a:xfrm>
          <a:prstGeom prst="rect">
            <a:avLst/>
          </a:prstGeom>
        </p:spPr>
        <p:txBody>
          <a:bodyPr lIns="0" tIns="0" rIns="0" bIns="0" rtlCol="0" anchor="t">
            <a:spAutoFit/>
          </a:bodyPr>
          <a:lstStyle/>
          <a:p>
            <a:pPr algn="just">
              <a:lnSpc>
                <a:spcPts val="3891"/>
              </a:lnSpc>
            </a:pPr>
            <a:endParaRPr/>
          </a:p>
          <a:p>
            <a:pPr algn="just">
              <a:lnSpc>
                <a:spcPts val="3891"/>
              </a:lnSpc>
            </a:pPr>
            <a:r>
              <a:rPr lang="en-US" sz="2779">
                <a:solidFill>
                  <a:srgbClr val="03275A"/>
                </a:solidFill>
                <a:latin typeface="Amiko"/>
                <a:ea typeface="Amiko"/>
                <a:cs typeface="Amiko"/>
                <a:sym typeface="Amiko"/>
              </a:rPr>
              <a:t>The “Economic Survey Management System” is a C language based project developed to manage and analyze household economic data efficiently. The system stores information related to household income, expenses, and savings using structures and arrays. It provides different functionalities such as displaying records, calculating average income, identifying the highest income household, and searching records by household ID.</a:t>
            </a:r>
          </a:p>
          <a:p>
            <a:pPr algn="just">
              <a:lnSpc>
                <a:spcPts val="3891"/>
              </a:lnSpc>
            </a:pPr>
            <a:r>
              <a:rPr lang="en-US" sz="2779">
                <a:solidFill>
                  <a:srgbClr val="03275A"/>
                </a:solidFill>
                <a:latin typeface="Amiko"/>
                <a:ea typeface="Amiko"/>
                <a:cs typeface="Amiko"/>
                <a:sym typeface="Amiko"/>
              </a:rPr>
              <a:t>The main purpose of this project is to apply programming concepts for basic economic data analysis. The project uses important concepts of C language including functions, loops, arrays, structures, and conditional statements. Savings are automatically calculated by subtracting expenses from income, while the system also checks whether a household falls below the poverty line or is economically stable.</a:t>
            </a:r>
          </a:p>
          <a:p>
            <a:pPr algn="just">
              <a:lnSpc>
                <a:spcPts val="3891"/>
              </a:lnSpc>
            </a:pPr>
            <a:r>
              <a:rPr lang="en-US" sz="2779">
                <a:solidFill>
                  <a:srgbClr val="03275A"/>
                </a:solidFill>
                <a:latin typeface="Amiko"/>
                <a:ea typeface="Amiko"/>
                <a:cs typeface="Amiko"/>
                <a:sym typeface="Amiko"/>
              </a:rPr>
              <a:t>This project is simple, user-friendly, and suitable for beginners who want</a:t>
            </a:r>
          </a:p>
          <a:p>
            <a:pPr algn="just">
              <a:lnSpc>
                <a:spcPts val="3891"/>
              </a:lnSpc>
            </a:pPr>
            <a:r>
              <a:rPr lang="en-US" sz="2779">
                <a:solidFill>
                  <a:srgbClr val="03275A"/>
                </a:solidFill>
                <a:latin typeface="Amiko"/>
                <a:ea typeface="Amiko"/>
                <a:cs typeface="Amiko"/>
                <a:sym typeface="Amiko"/>
              </a:rPr>
              <a:t> practical implementation of C programming concepts along with </a:t>
            </a:r>
          </a:p>
          <a:p>
            <a:pPr algn="just">
              <a:lnSpc>
                <a:spcPts val="3891"/>
              </a:lnSpc>
            </a:pPr>
            <a:r>
              <a:rPr lang="en-US" sz="2779">
                <a:solidFill>
                  <a:srgbClr val="03275A"/>
                </a:solidFill>
                <a:latin typeface="Amiko"/>
                <a:ea typeface="Amiko"/>
                <a:cs typeface="Amiko"/>
                <a:sym typeface="Amiko"/>
              </a:rPr>
              <a:t>economic data management and analysis.</a:t>
            </a:r>
          </a:p>
          <a:p>
            <a:pPr algn="just">
              <a:lnSpc>
                <a:spcPts val="3891"/>
              </a:lnSpc>
            </a:pPr>
            <a:endParaRPr lang="en-US" sz="2779">
              <a:solidFill>
                <a:srgbClr val="03275A"/>
              </a:solidFill>
              <a:latin typeface="Amiko"/>
              <a:ea typeface="Amiko"/>
              <a:cs typeface="Amiko"/>
              <a:sym typeface="Amik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Freeform 2"/>
          <p:cNvSpPr/>
          <p:nvPr/>
        </p:nvSpPr>
        <p:spPr>
          <a:xfrm>
            <a:off x="9583365" y="6257806"/>
            <a:ext cx="10093406" cy="6000989"/>
          </a:xfrm>
          <a:custGeom>
            <a:avLst/>
            <a:gdLst/>
            <a:ahLst/>
            <a:cxnLst/>
            <a:rect l="l" t="t" r="r" b="b"/>
            <a:pathLst>
              <a:path w="10093406" h="6000989">
                <a:moveTo>
                  <a:pt x="0" y="0"/>
                </a:moveTo>
                <a:lnTo>
                  <a:pt x="10093406" y="0"/>
                </a:lnTo>
                <a:lnTo>
                  <a:pt x="10093406" y="6000988"/>
                </a:lnTo>
                <a:lnTo>
                  <a:pt x="0" y="600098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H="1" flipV="1">
            <a:off x="-3265860" y="-1023938"/>
            <a:ext cx="10093406" cy="6000989"/>
          </a:xfrm>
          <a:custGeom>
            <a:avLst/>
            <a:gdLst/>
            <a:ahLst/>
            <a:cxnLst/>
            <a:rect l="l" t="t" r="r" b="b"/>
            <a:pathLst>
              <a:path w="10093406" h="6000989">
                <a:moveTo>
                  <a:pt x="10093406" y="6000989"/>
                </a:moveTo>
                <a:lnTo>
                  <a:pt x="0" y="6000989"/>
                </a:lnTo>
                <a:lnTo>
                  <a:pt x="0" y="0"/>
                </a:lnTo>
                <a:lnTo>
                  <a:pt x="10093406" y="0"/>
                </a:lnTo>
                <a:lnTo>
                  <a:pt x="10093406" y="6000989"/>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1749240">
            <a:off x="14107833" y="8613248"/>
            <a:ext cx="2252125" cy="1126062"/>
          </a:xfrm>
          <a:custGeom>
            <a:avLst/>
            <a:gdLst/>
            <a:ahLst/>
            <a:cxnLst/>
            <a:rect l="l" t="t" r="r" b="b"/>
            <a:pathLst>
              <a:path w="2252125" h="1126062">
                <a:moveTo>
                  <a:pt x="0" y="0"/>
                </a:moveTo>
                <a:lnTo>
                  <a:pt x="2252124" y="0"/>
                </a:lnTo>
                <a:lnTo>
                  <a:pt x="2252124" y="1126062"/>
                </a:lnTo>
                <a:lnTo>
                  <a:pt x="0" y="112606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1749240" flipV="1">
            <a:off x="1905275" y="650043"/>
            <a:ext cx="2128989" cy="1064495"/>
          </a:xfrm>
          <a:custGeom>
            <a:avLst/>
            <a:gdLst/>
            <a:ahLst/>
            <a:cxnLst/>
            <a:rect l="l" t="t" r="r" b="b"/>
            <a:pathLst>
              <a:path w="2128989" h="1064495">
                <a:moveTo>
                  <a:pt x="0" y="1064495"/>
                </a:moveTo>
                <a:lnTo>
                  <a:pt x="2128989" y="1064495"/>
                </a:lnTo>
                <a:lnTo>
                  <a:pt x="2128989" y="0"/>
                </a:lnTo>
                <a:lnTo>
                  <a:pt x="0" y="0"/>
                </a:lnTo>
                <a:lnTo>
                  <a:pt x="0" y="106449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6491586" y="8853488"/>
            <a:ext cx="2364581" cy="2364581"/>
          </a:xfrm>
          <a:custGeom>
            <a:avLst/>
            <a:gdLst/>
            <a:ahLst/>
            <a:cxnLst/>
            <a:rect l="l" t="t" r="r" b="b"/>
            <a:pathLst>
              <a:path w="2364581" h="2364581">
                <a:moveTo>
                  <a:pt x="0" y="0"/>
                </a:moveTo>
                <a:lnTo>
                  <a:pt x="2364581" y="0"/>
                </a:lnTo>
                <a:lnTo>
                  <a:pt x="2364581" y="2364581"/>
                </a:lnTo>
                <a:lnTo>
                  <a:pt x="0" y="236458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869488" y="-983397"/>
            <a:ext cx="2364581" cy="2364581"/>
          </a:xfrm>
          <a:custGeom>
            <a:avLst/>
            <a:gdLst/>
            <a:ahLst/>
            <a:cxnLst/>
            <a:rect l="l" t="t" r="r" b="b"/>
            <a:pathLst>
              <a:path w="2364581" h="2364581">
                <a:moveTo>
                  <a:pt x="0" y="0"/>
                </a:moveTo>
                <a:lnTo>
                  <a:pt x="2364581" y="0"/>
                </a:lnTo>
                <a:lnTo>
                  <a:pt x="2364581" y="2364582"/>
                </a:lnTo>
                <a:lnTo>
                  <a:pt x="0" y="23645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3644738" y="2428746"/>
            <a:ext cx="10998524" cy="1356798"/>
          </a:xfrm>
          <a:prstGeom prst="rect">
            <a:avLst/>
          </a:prstGeom>
        </p:spPr>
        <p:txBody>
          <a:bodyPr lIns="0" tIns="0" rIns="0" bIns="0" rtlCol="0" anchor="t">
            <a:spAutoFit/>
          </a:bodyPr>
          <a:lstStyle/>
          <a:p>
            <a:pPr algn="ctr">
              <a:lnSpc>
                <a:spcPts val="10292"/>
              </a:lnSpc>
            </a:pPr>
            <a:r>
              <a:rPr lang="en-US" sz="10292" b="1">
                <a:solidFill>
                  <a:srgbClr val="03275A"/>
                </a:solidFill>
                <a:latin typeface="Nunito Sans Bold"/>
                <a:ea typeface="Nunito Sans Bold"/>
                <a:cs typeface="Nunito Sans Bold"/>
                <a:sym typeface="Nunito Sans Bold"/>
              </a:rPr>
              <a:t>INTRODUCTION</a:t>
            </a:r>
          </a:p>
        </p:txBody>
      </p:sp>
      <p:sp>
        <p:nvSpPr>
          <p:cNvPr id="9" name="TextBox 9"/>
          <p:cNvSpPr txBox="1"/>
          <p:nvPr/>
        </p:nvSpPr>
        <p:spPr>
          <a:xfrm>
            <a:off x="680836" y="4228142"/>
            <a:ext cx="16099378" cy="4835365"/>
          </a:xfrm>
          <a:prstGeom prst="rect">
            <a:avLst/>
          </a:prstGeom>
        </p:spPr>
        <p:txBody>
          <a:bodyPr lIns="0" tIns="0" rIns="0" bIns="0" rtlCol="0" anchor="t">
            <a:spAutoFit/>
          </a:bodyPr>
          <a:lstStyle/>
          <a:p>
            <a:pPr algn="just">
              <a:lnSpc>
                <a:spcPts val="3858"/>
              </a:lnSpc>
            </a:pPr>
            <a:r>
              <a:rPr lang="en-US" sz="2756">
                <a:solidFill>
                  <a:srgbClr val="03275A"/>
                </a:solidFill>
                <a:latin typeface="Amiko"/>
                <a:ea typeface="Amiko"/>
                <a:cs typeface="Amiko"/>
                <a:sym typeface="Amiko"/>
              </a:rPr>
              <a:t>The “Economic Survey Management System” is a C-language project developed to manage and analyze household economic data. This system stores information about households, including their income, expenses, and savings.</a:t>
            </a:r>
          </a:p>
          <a:p>
            <a:pPr algn="l">
              <a:lnSpc>
                <a:spcPts val="3858"/>
              </a:lnSpc>
            </a:pPr>
            <a:r>
              <a:rPr lang="en-US" sz="2756">
                <a:solidFill>
                  <a:srgbClr val="03275A"/>
                </a:solidFill>
                <a:latin typeface="Amiko"/>
                <a:ea typeface="Amiko"/>
                <a:cs typeface="Amiko"/>
                <a:sym typeface="Amiko"/>
              </a:rPr>
              <a:t>The project supports simple economic analyses such as:</a:t>
            </a:r>
          </a:p>
          <a:p>
            <a:pPr marL="595084" lvl="1" indent="-297542" algn="l">
              <a:lnSpc>
                <a:spcPts val="3858"/>
              </a:lnSpc>
              <a:buFont typeface="Arial"/>
              <a:buChar char="•"/>
            </a:pPr>
            <a:r>
              <a:rPr lang="en-US" sz="2756">
                <a:solidFill>
                  <a:srgbClr val="03275A"/>
                </a:solidFill>
                <a:latin typeface="Amiko"/>
                <a:ea typeface="Amiko"/>
                <a:cs typeface="Amiko"/>
                <a:sym typeface="Amiko"/>
              </a:rPr>
              <a:t>Average income calculation</a:t>
            </a:r>
          </a:p>
          <a:p>
            <a:pPr marL="595084" lvl="1" indent="-297542" algn="l">
              <a:lnSpc>
                <a:spcPts val="3858"/>
              </a:lnSpc>
              <a:buFont typeface="Arial"/>
              <a:buChar char="•"/>
            </a:pPr>
            <a:r>
              <a:rPr lang="en-US" sz="2756">
                <a:solidFill>
                  <a:srgbClr val="03275A"/>
                </a:solidFill>
                <a:latin typeface="Amiko"/>
                <a:ea typeface="Amiko"/>
                <a:cs typeface="Amiko"/>
                <a:sym typeface="Amiko"/>
              </a:rPr>
              <a:t>Highest income identification</a:t>
            </a:r>
          </a:p>
          <a:p>
            <a:pPr marL="595084" lvl="1" indent="-297542" algn="l">
              <a:lnSpc>
                <a:spcPts val="3858"/>
              </a:lnSpc>
              <a:buFont typeface="Arial"/>
              <a:buChar char="•"/>
            </a:pPr>
            <a:r>
              <a:rPr lang="en-US" sz="2756">
                <a:solidFill>
                  <a:srgbClr val="03275A"/>
                </a:solidFill>
                <a:latin typeface="Amiko"/>
                <a:ea typeface="Amiko"/>
                <a:cs typeface="Amiko"/>
                <a:sym typeface="Amiko"/>
              </a:rPr>
              <a:t>Poverty line checking</a:t>
            </a:r>
          </a:p>
          <a:p>
            <a:pPr marL="595084" lvl="1" indent="-297542" algn="l">
              <a:lnSpc>
                <a:spcPts val="3858"/>
              </a:lnSpc>
              <a:buFont typeface="Arial"/>
              <a:buChar char="•"/>
            </a:pPr>
            <a:r>
              <a:rPr lang="en-US" sz="2756">
                <a:solidFill>
                  <a:srgbClr val="03275A"/>
                </a:solidFill>
                <a:latin typeface="Amiko"/>
                <a:ea typeface="Amiko"/>
                <a:cs typeface="Amiko"/>
                <a:sym typeface="Amiko"/>
              </a:rPr>
              <a:t>Household searching</a:t>
            </a:r>
          </a:p>
          <a:p>
            <a:pPr algn="l">
              <a:lnSpc>
                <a:spcPts val="3858"/>
              </a:lnSpc>
            </a:pPr>
            <a:r>
              <a:rPr lang="en-US" sz="2756">
                <a:solidFill>
                  <a:srgbClr val="03275A"/>
                </a:solidFill>
                <a:latin typeface="Amiko"/>
                <a:ea typeface="Amiko"/>
                <a:cs typeface="Amiko"/>
                <a:sym typeface="Amiko"/>
              </a:rPr>
              <a:t>This project demonstrates the practical implementation of programming </a:t>
            </a:r>
          </a:p>
          <a:p>
            <a:pPr algn="l">
              <a:lnSpc>
                <a:spcPts val="3858"/>
              </a:lnSpc>
            </a:pPr>
            <a:r>
              <a:rPr lang="en-US" sz="2756">
                <a:solidFill>
                  <a:srgbClr val="03275A"/>
                </a:solidFill>
                <a:latin typeface="Amiko"/>
                <a:ea typeface="Amiko"/>
                <a:cs typeface="Amiko"/>
                <a:sym typeface="Amiko"/>
              </a:rPr>
              <a:t>concepts alongside basic economic data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Freeform 2"/>
          <p:cNvSpPr/>
          <p:nvPr/>
        </p:nvSpPr>
        <p:spPr>
          <a:xfrm>
            <a:off x="9583365" y="6257806"/>
            <a:ext cx="10093406" cy="6000989"/>
          </a:xfrm>
          <a:custGeom>
            <a:avLst/>
            <a:gdLst/>
            <a:ahLst/>
            <a:cxnLst/>
            <a:rect l="l" t="t" r="r" b="b"/>
            <a:pathLst>
              <a:path w="10093406" h="6000989">
                <a:moveTo>
                  <a:pt x="0" y="0"/>
                </a:moveTo>
                <a:lnTo>
                  <a:pt x="10093406" y="0"/>
                </a:lnTo>
                <a:lnTo>
                  <a:pt x="10093406" y="6000988"/>
                </a:lnTo>
                <a:lnTo>
                  <a:pt x="0" y="600098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H="1" flipV="1">
            <a:off x="-3265860" y="-1023938"/>
            <a:ext cx="10093406" cy="6000989"/>
          </a:xfrm>
          <a:custGeom>
            <a:avLst/>
            <a:gdLst/>
            <a:ahLst/>
            <a:cxnLst/>
            <a:rect l="l" t="t" r="r" b="b"/>
            <a:pathLst>
              <a:path w="10093406" h="6000989">
                <a:moveTo>
                  <a:pt x="10093406" y="6000989"/>
                </a:moveTo>
                <a:lnTo>
                  <a:pt x="0" y="6000989"/>
                </a:lnTo>
                <a:lnTo>
                  <a:pt x="0" y="0"/>
                </a:lnTo>
                <a:lnTo>
                  <a:pt x="10093406" y="0"/>
                </a:lnTo>
                <a:lnTo>
                  <a:pt x="10093406" y="6000989"/>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1749240">
            <a:off x="14107833" y="8613248"/>
            <a:ext cx="2252125" cy="1126062"/>
          </a:xfrm>
          <a:custGeom>
            <a:avLst/>
            <a:gdLst/>
            <a:ahLst/>
            <a:cxnLst/>
            <a:rect l="l" t="t" r="r" b="b"/>
            <a:pathLst>
              <a:path w="2252125" h="1126062">
                <a:moveTo>
                  <a:pt x="0" y="0"/>
                </a:moveTo>
                <a:lnTo>
                  <a:pt x="2252124" y="0"/>
                </a:lnTo>
                <a:lnTo>
                  <a:pt x="2252124" y="1126062"/>
                </a:lnTo>
                <a:lnTo>
                  <a:pt x="0" y="112606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1749240" flipV="1">
            <a:off x="1905275" y="650043"/>
            <a:ext cx="2128989" cy="1064495"/>
          </a:xfrm>
          <a:custGeom>
            <a:avLst/>
            <a:gdLst/>
            <a:ahLst/>
            <a:cxnLst/>
            <a:rect l="l" t="t" r="r" b="b"/>
            <a:pathLst>
              <a:path w="2128989" h="1064495">
                <a:moveTo>
                  <a:pt x="0" y="1064495"/>
                </a:moveTo>
                <a:lnTo>
                  <a:pt x="2128989" y="1064495"/>
                </a:lnTo>
                <a:lnTo>
                  <a:pt x="2128989" y="0"/>
                </a:lnTo>
                <a:lnTo>
                  <a:pt x="0" y="0"/>
                </a:lnTo>
                <a:lnTo>
                  <a:pt x="0" y="106449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6491586" y="8853488"/>
            <a:ext cx="2364581" cy="2364581"/>
          </a:xfrm>
          <a:custGeom>
            <a:avLst/>
            <a:gdLst/>
            <a:ahLst/>
            <a:cxnLst/>
            <a:rect l="l" t="t" r="r" b="b"/>
            <a:pathLst>
              <a:path w="2364581" h="2364581">
                <a:moveTo>
                  <a:pt x="0" y="0"/>
                </a:moveTo>
                <a:lnTo>
                  <a:pt x="2364581" y="0"/>
                </a:lnTo>
                <a:lnTo>
                  <a:pt x="2364581" y="2364581"/>
                </a:lnTo>
                <a:lnTo>
                  <a:pt x="0" y="236458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869488" y="-983397"/>
            <a:ext cx="2364581" cy="2364581"/>
          </a:xfrm>
          <a:custGeom>
            <a:avLst/>
            <a:gdLst/>
            <a:ahLst/>
            <a:cxnLst/>
            <a:rect l="l" t="t" r="r" b="b"/>
            <a:pathLst>
              <a:path w="2364581" h="2364581">
                <a:moveTo>
                  <a:pt x="0" y="0"/>
                </a:moveTo>
                <a:lnTo>
                  <a:pt x="2364581" y="0"/>
                </a:lnTo>
                <a:lnTo>
                  <a:pt x="2364581" y="2364582"/>
                </a:lnTo>
                <a:lnTo>
                  <a:pt x="0" y="23645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3401933" y="2186107"/>
            <a:ext cx="11831962" cy="1356798"/>
          </a:xfrm>
          <a:prstGeom prst="rect">
            <a:avLst/>
          </a:prstGeom>
        </p:spPr>
        <p:txBody>
          <a:bodyPr lIns="0" tIns="0" rIns="0" bIns="0" rtlCol="0" anchor="t">
            <a:spAutoFit/>
          </a:bodyPr>
          <a:lstStyle/>
          <a:p>
            <a:pPr algn="ctr">
              <a:lnSpc>
                <a:spcPts val="10292"/>
              </a:lnSpc>
            </a:pPr>
            <a:r>
              <a:rPr lang="en-US" sz="10292" b="1">
                <a:solidFill>
                  <a:srgbClr val="03275A"/>
                </a:solidFill>
                <a:latin typeface="Nunito Sans Bold"/>
                <a:ea typeface="Nunito Sans Bold"/>
                <a:cs typeface="Nunito Sans Bold"/>
                <a:sym typeface="Nunito Sans Bold"/>
              </a:rPr>
              <a:t>OBJECTIVES</a:t>
            </a:r>
          </a:p>
        </p:txBody>
      </p:sp>
      <p:sp>
        <p:nvSpPr>
          <p:cNvPr id="9" name="TextBox 9"/>
          <p:cNvSpPr txBox="1"/>
          <p:nvPr/>
        </p:nvSpPr>
        <p:spPr>
          <a:xfrm>
            <a:off x="2662628" y="4489966"/>
            <a:ext cx="12962744" cy="3469005"/>
          </a:xfrm>
          <a:prstGeom prst="rect">
            <a:avLst/>
          </a:prstGeom>
        </p:spPr>
        <p:txBody>
          <a:bodyPr lIns="0" tIns="0" rIns="0" bIns="0" rtlCol="0" anchor="t">
            <a:spAutoFit/>
          </a:bodyPr>
          <a:lstStyle/>
          <a:p>
            <a:pPr marL="712470" lvl="1" indent="-356235" algn="l">
              <a:lnSpc>
                <a:spcPts val="4620"/>
              </a:lnSpc>
              <a:buFont typeface="Arial"/>
              <a:buChar char="•"/>
            </a:pPr>
            <a:r>
              <a:rPr lang="en-US" sz="3300">
                <a:solidFill>
                  <a:srgbClr val="03275A"/>
                </a:solidFill>
                <a:latin typeface="Amiko"/>
                <a:ea typeface="Amiko"/>
                <a:cs typeface="Amiko"/>
                <a:sym typeface="Amiko"/>
              </a:rPr>
              <a:t>To store household economic records </a:t>
            </a:r>
          </a:p>
          <a:p>
            <a:pPr marL="712470" lvl="1" indent="-356235" algn="l">
              <a:lnSpc>
                <a:spcPts val="4620"/>
              </a:lnSpc>
              <a:buFont typeface="Arial"/>
              <a:buChar char="•"/>
            </a:pPr>
            <a:r>
              <a:rPr lang="en-US" sz="3300">
                <a:solidFill>
                  <a:srgbClr val="03275A"/>
                </a:solidFill>
                <a:latin typeface="Amiko"/>
                <a:ea typeface="Amiko"/>
                <a:cs typeface="Amiko"/>
                <a:sym typeface="Amiko"/>
              </a:rPr>
              <a:t>To calculate savings </a:t>
            </a:r>
          </a:p>
          <a:p>
            <a:pPr marL="712470" lvl="1" indent="-356235" algn="l">
              <a:lnSpc>
                <a:spcPts val="4620"/>
              </a:lnSpc>
              <a:buFont typeface="Arial"/>
              <a:buChar char="•"/>
            </a:pPr>
            <a:r>
              <a:rPr lang="en-US" sz="3300">
                <a:solidFill>
                  <a:srgbClr val="03275A"/>
                </a:solidFill>
                <a:latin typeface="Amiko"/>
                <a:ea typeface="Amiko"/>
                <a:cs typeface="Amiko"/>
                <a:sym typeface="Amiko"/>
              </a:rPr>
              <a:t>To analyze household income </a:t>
            </a:r>
          </a:p>
          <a:p>
            <a:pPr marL="712470" lvl="1" indent="-356235" algn="l">
              <a:lnSpc>
                <a:spcPts val="4620"/>
              </a:lnSpc>
              <a:buFont typeface="Arial"/>
              <a:buChar char="•"/>
            </a:pPr>
            <a:r>
              <a:rPr lang="en-US" sz="3300">
                <a:solidFill>
                  <a:srgbClr val="03275A"/>
                </a:solidFill>
                <a:latin typeface="Amiko"/>
                <a:ea typeface="Amiko"/>
                <a:cs typeface="Amiko"/>
                <a:sym typeface="Amiko"/>
              </a:rPr>
              <a:t>To search records efficiently </a:t>
            </a:r>
          </a:p>
          <a:p>
            <a:pPr marL="712470" lvl="1" indent="-356235" algn="l">
              <a:lnSpc>
                <a:spcPts val="4620"/>
              </a:lnSpc>
              <a:buFont typeface="Arial"/>
              <a:buChar char="•"/>
            </a:pPr>
            <a:r>
              <a:rPr lang="en-US" sz="3300">
                <a:solidFill>
                  <a:srgbClr val="03275A"/>
                </a:solidFill>
                <a:latin typeface="Amiko"/>
                <a:ea typeface="Amiko"/>
                <a:cs typeface="Amiko"/>
                <a:sym typeface="Amiko"/>
              </a:rPr>
              <a:t>To practice C language concepts </a:t>
            </a:r>
          </a:p>
          <a:p>
            <a:pPr algn="l">
              <a:lnSpc>
                <a:spcPts val="4620"/>
              </a:lnSpc>
            </a:pPr>
            <a:endParaRPr lang="en-US" sz="3300">
              <a:solidFill>
                <a:srgbClr val="03275A"/>
              </a:solidFill>
              <a:latin typeface="Amiko"/>
              <a:ea typeface="Amiko"/>
              <a:cs typeface="Amiko"/>
              <a:sym typeface="Amik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Freeform 2"/>
          <p:cNvSpPr/>
          <p:nvPr/>
        </p:nvSpPr>
        <p:spPr>
          <a:xfrm>
            <a:off x="9583365" y="6257806"/>
            <a:ext cx="10093406" cy="6000989"/>
          </a:xfrm>
          <a:custGeom>
            <a:avLst/>
            <a:gdLst/>
            <a:ahLst/>
            <a:cxnLst/>
            <a:rect l="l" t="t" r="r" b="b"/>
            <a:pathLst>
              <a:path w="10093406" h="6000989">
                <a:moveTo>
                  <a:pt x="0" y="0"/>
                </a:moveTo>
                <a:lnTo>
                  <a:pt x="10093406" y="0"/>
                </a:lnTo>
                <a:lnTo>
                  <a:pt x="10093406" y="6000988"/>
                </a:lnTo>
                <a:lnTo>
                  <a:pt x="0" y="600098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H="1" flipV="1">
            <a:off x="-3265860" y="-1023938"/>
            <a:ext cx="10093406" cy="6000989"/>
          </a:xfrm>
          <a:custGeom>
            <a:avLst/>
            <a:gdLst/>
            <a:ahLst/>
            <a:cxnLst/>
            <a:rect l="l" t="t" r="r" b="b"/>
            <a:pathLst>
              <a:path w="10093406" h="6000989">
                <a:moveTo>
                  <a:pt x="10093406" y="6000989"/>
                </a:moveTo>
                <a:lnTo>
                  <a:pt x="0" y="6000989"/>
                </a:lnTo>
                <a:lnTo>
                  <a:pt x="0" y="0"/>
                </a:lnTo>
                <a:lnTo>
                  <a:pt x="10093406" y="0"/>
                </a:lnTo>
                <a:lnTo>
                  <a:pt x="10093406" y="6000989"/>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1749240">
            <a:off x="14107833" y="8613248"/>
            <a:ext cx="2252125" cy="1126062"/>
          </a:xfrm>
          <a:custGeom>
            <a:avLst/>
            <a:gdLst/>
            <a:ahLst/>
            <a:cxnLst/>
            <a:rect l="l" t="t" r="r" b="b"/>
            <a:pathLst>
              <a:path w="2252125" h="1126062">
                <a:moveTo>
                  <a:pt x="0" y="0"/>
                </a:moveTo>
                <a:lnTo>
                  <a:pt x="2252124" y="0"/>
                </a:lnTo>
                <a:lnTo>
                  <a:pt x="2252124" y="1126062"/>
                </a:lnTo>
                <a:lnTo>
                  <a:pt x="0" y="112606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1749240" flipV="1">
            <a:off x="1905275" y="650043"/>
            <a:ext cx="2128989" cy="1064495"/>
          </a:xfrm>
          <a:custGeom>
            <a:avLst/>
            <a:gdLst/>
            <a:ahLst/>
            <a:cxnLst/>
            <a:rect l="l" t="t" r="r" b="b"/>
            <a:pathLst>
              <a:path w="2128989" h="1064495">
                <a:moveTo>
                  <a:pt x="0" y="1064495"/>
                </a:moveTo>
                <a:lnTo>
                  <a:pt x="2128989" y="1064495"/>
                </a:lnTo>
                <a:lnTo>
                  <a:pt x="2128989" y="0"/>
                </a:lnTo>
                <a:lnTo>
                  <a:pt x="0" y="0"/>
                </a:lnTo>
                <a:lnTo>
                  <a:pt x="0" y="106449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6491586" y="8853488"/>
            <a:ext cx="2364581" cy="2364581"/>
          </a:xfrm>
          <a:custGeom>
            <a:avLst/>
            <a:gdLst/>
            <a:ahLst/>
            <a:cxnLst/>
            <a:rect l="l" t="t" r="r" b="b"/>
            <a:pathLst>
              <a:path w="2364581" h="2364581">
                <a:moveTo>
                  <a:pt x="0" y="0"/>
                </a:moveTo>
                <a:lnTo>
                  <a:pt x="2364581" y="0"/>
                </a:lnTo>
                <a:lnTo>
                  <a:pt x="2364581" y="2364581"/>
                </a:lnTo>
                <a:lnTo>
                  <a:pt x="0" y="236458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869488" y="-983397"/>
            <a:ext cx="2364581" cy="2364581"/>
          </a:xfrm>
          <a:custGeom>
            <a:avLst/>
            <a:gdLst/>
            <a:ahLst/>
            <a:cxnLst/>
            <a:rect l="l" t="t" r="r" b="b"/>
            <a:pathLst>
              <a:path w="2364581" h="2364581">
                <a:moveTo>
                  <a:pt x="0" y="0"/>
                </a:moveTo>
                <a:lnTo>
                  <a:pt x="2364581" y="0"/>
                </a:lnTo>
                <a:lnTo>
                  <a:pt x="2364581" y="2364582"/>
                </a:lnTo>
                <a:lnTo>
                  <a:pt x="0" y="23645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1495093" y="2011066"/>
            <a:ext cx="14445858" cy="3966648"/>
          </a:xfrm>
          <a:prstGeom prst="rect">
            <a:avLst/>
          </a:prstGeom>
        </p:spPr>
        <p:txBody>
          <a:bodyPr lIns="0" tIns="0" rIns="0" bIns="0" rtlCol="0" anchor="t">
            <a:spAutoFit/>
          </a:bodyPr>
          <a:lstStyle/>
          <a:p>
            <a:pPr algn="ctr">
              <a:lnSpc>
                <a:spcPts val="10292"/>
              </a:lnSpc>
            </a:pPr>
            <a:r>
              <a:rPr lang="en-US" sz="10292" b="1">
                <a:solidFill>
                  <a:srgbClr val="03275A"/>
                </a:solidFill>
                <a:latin typeface="Nunito Sans Bold"/>
                <a:ea typeface="Nunito Sans Bold"/>
                <a:cs typeface="Nunito Sans Bold"/>
                <a:sym typeface="Nunito Sans Bold"/>
              </a:rPr>
              <a:t>FEATURES OF </a:t>
            </a:r>
          </a:p>
          <a:p>
            <a:pPr algn="ctr">
              <a:lnSpc>
                <a:spcPts val="10292"/>
              </a:lnSpc>
            </a:pPr>
            <a:r>
              <a:rPr lang="en-US" sz="10292" b="1">
                <a:solidFill>
                  <a:srgbClr val="03275A"/>
                </a:solidFill>
                <a:latin typeface="Nunito Sans Bold"/>
                <a:ea typeface="Nunito Sans Bold"/>
                <a:cs typeface="Nunito Sans Bold"/>
                <a:sym typeface="Nunito Sans Bold"/>
              </a:rPr>
              <a:t>THE PROJECT</a:t>
            </a:r>
          </a:p>
          <a:p>
            <a:pPr algn="ctr">
              <a:lnSpc>
                <a:spcPts val="10292"/>
              </a:lnSpc>
            </a:pPr>
            <a:endParaRPr lang="en-US" sz="10292" b="1">
              <a:solidFill>
                <a:srgbClr val="03275A"/>
              </a:solidFill>
              <a:latin typeface="Nunito Sans Bold"/>
              <a:ea typeface="Nunito Sans Bold"/>
              <a:cs typeface="Nunito Sans Bold"/>
              <a:sym typeface="Nunito Sans Bold"/>
            </a:endParaRPr>
          </a:p>
        </p:txBody>
      </p:sp>
      <p:sp>
        <p:nvSpPr>
          <p:cNvPr id="9" name="TextBox 9"/>
          <p:cNvSpPr txBox="1"/>
          <p:nvPr/>
        </p:nvSpPr>
        <p:spPr>
          <a:xfrm>
            <a:off x="2969770" y="5126249"/>
            <a:ext cx="10366042" cy="4050030"/>
          </a:xfrm>
          <a:prstGeom prst="rect">
            <a:avLst/>
          </a:prstGeom>
        </p:spPr>
        <p:txBody>
          <a:bodyPr lIns="0" tIns="0" rIns="0" bIns="0" rtlCol="0" anchor="t">
            <a:spAutoFit/>
          </a:bodyPr>
          <a:lstStyle/>
          <a:p>
            <a:pPr marL="712470" lvl="1" indent="-356235" algn="just">
              <a:lnSpc>
                <a:spcPts val="4620"/>
              </a:lnSpc>
              <a:buAutoNum type="arabicPeriod"/>
            </a:pPr>
            <a:r>
              <a:rPr lang="en-US" sz="3300">
                <a:solidFill>
                  <a:srgbClr val="03275A"/>
                </a:solidFill>
                <a:latin typeface="Amiko"/>
                <a:ea typeface="Amiko"/>
                <a:cs typeface="Amiko"/>
                <a:sym typeface="Amiko"/>
              </a:rPr>
              <a:t>Add household data </a:t>
            </a:r>
          </a:p>
          <a:p>
            <a:pPr marL="712470" lvl="1" indent="-356235" algn="just">
              <a:lnSpc>
                <a:spcPts val="4620"/>
              </a:lnSpc>
              <a:buAutoNum type="arabicPeriod"/>
            </a:pPr>
            <a:r>
              <a:rPr lang="en-US" sz="3300">
                <a:solidFill>
                  <a:srgbClr val="03275A"/>
                </a:solidFill>
                <a:latin typeface="Amiko"/>
                <a:ea typeface="Amiko"/>
                <a:cs typeface="Amiko"/>
                <a:sym typeface="Amiko"/>
              </a:rPr>
              <a:t>Display all household records </a:t>
            </a:r>
          </a:p>
          <a:p>
            <a:pPr marL="712470" lvl="1" indent="-356235" algn="just">
              <a:lnSpc>
                <a:spcPts val="4620"/>
              </a:lnSpc>
              <a:buAutoNum type="arabicPeriod"/>
            </a:pPr>
            <a:r>
              <a:rPr lang="en-US" sz="3300">
                <a:solidFill>
                  <a:srgbClr val="03275A"/>
                </a:solidFill>
                <a:latin typeface="Amiko"/>
                <a:ea typeface="Amiko"/>
                <a:cs typeface="Amiko"/>
                <a:sym typeface="Amiko"/>
              </a:rPr>
              <a:t>Calculate average income </a:t>
            </a:r>
          </a:p>
          <a:p>
            <a:pPr marL="712470" lvl="1" indent="-356235" algn="just">
              <a:lnSpc>
                <a:spcPts val="4620"/>
              </a:lnSpc>
              <a:buAutoNum type="arabicPeriod"/>
            </a:pPr>
            <a:r>
              <a:rPr lang="en-US" sz="3300">
                <a:solidFill>
                  <a:srgbClr val="03275A"/>
                </a:solidFill>
                <a:latin typeface="Amiko"/>
                <a:ea typeface="Amiko"/>
                <a:cs typeface="Amiko"/>
                <a:sym typeface="Amiko"/>
              </a:rPr>
              <a:t>Find highest income household </a:t>
            </a:r>
          </a:p>
          <a:p>
            <a:pPr marL="712470" lvl="1" indent="-356235" algn="just">
              <a:lnSpc>
                <a:spcPts val="4620"/>
              </a:lnSpc>
              <a:buAutoNum type="arabicPeriod"/>
            </a:pPr>
            <a:r>
              <a:rPr lang="en-US" sz="3300">
                <a:solidFill>
                  <a:srgbClr val="03275A"/>
                </a:solidFill>
                <a:latin typeface="Amiko"/>
                <a:ea typeface="Amiko"/>
                <a:cs typeface="Amiko"/>
                <a:sym typeface="Amiko"/>
              </a:rPr>
              <a:t>Search household by ID </a:t>
            </a:r>
          </a:p>
          <a:p>
            <a:pPr marL="712470" lvl="1" indent="-356235" algn="just">
              <a:lnSpc>
                <a:spcPts val="4620"/>
              </a:lnSpc>
              <a:buAutoNum type="arabicPeriod"/>
            </a:pPr>
            <a:r>
              <a:rPr lang="en-US" sz="3300">
                <a:solidFill>
                  <a:srgbClr val="03275A"/>
                </a:solidFill>
                <a:latin typeface="Amiko"/>
                <a:ea typeface="Amiko"/>
                <a:cs typeface="Amiko"/>
                <a:sym typeface="Amiko"/>
              </a:rPr>
              <a:t>Poverty line analysis </a:t>
            </a:r>
          </a:p>
          <a:p>
            <a:pPr algn="just">
              <a:lnSpc>
                <a:spcPts val="4620"/>
              </a:lnSpc>
            </a:pPr>
            <a:endParaRPr lang="en-US" sz="3300">
              <a:solidFill>
                <a:srgbClr val="03275A"/>
              </a:solidFill>
              <a:latin typeface="Amiko"/>
              <a:ea typeface="Amiko"/>
              <a:cs typeface="Amiko"/>
              <a:sym typeface="Amik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Freeform 2"/>
          <p:cNvSpPr/>
          <p:nvPr/>
        </p:nvSpPr>
        <p:spPr>
          <a:xfrm>
            <a:off x="9583365" y="6257806"/>
            <a:ext cx="10093406" cy="6000989"/>
          </a:xfrm>
          <a:custGeom>
            <a:avLst/>
            <a:gdLst/>
            <a:ahLst/>
            <a:cxnLst/>
            <a:rect l="l" t="t" r="r" b="b"/>
            <a:pathLst>
              <a:path w="10093406" h="6000989">
                <a:moveTo>
                  <a:pt x="0" y="0"/>
                </a:moveTo>
                <a:lnTo>
                  <a:pt x="10093406" y="0"/>
                </a:lnTo>
                <a:lnTo>
                  <a:pt x="10093406" y="6000988"/>
                </a:lnTo>
                <a:lnTo>
                  <a:pt x="0" y="600098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H="1" flipV="1">
            <a:off x="-3265860" y="-1023938"/>
            <a:ext cx="10093406" cy="6000989"/>
          </a:xfrm>
          <a:custGeom>
            <a:avLst/>
            <a:gdLst/>
            <a:ahLst/>
            <a:cxnLst/>
            <a:rect l="l" t="t" r="r" b="b"/>
            <a:pathLst>
              <a:path w="10093406" h="6000989">
                <a:moveTo>
                  <a:pt x="10093406" y="6000989"/>
                </a:moveTo>
                <a:lnTo>
                  <a:pt x="0" y="6000989"/>
                </a:lnTo>
                <a:lnTo>
                  <a:pt x="0" y="0"/>
                </a:lnTo>
                <a:lnTo>
                  <a:pt x="10093406" y="0"/>
                </a:lnTo>
                <a:lnTo>
                  <a:pt x="10093406" y="6000989"/>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1749240">
            <a:off x="14107833" y="8613248"/>
            <a:ext cx="2252125" cy="1126062"/>
          </a:xfrm>
          <a:custGeom>
            <a:avLst/>
            <a:gdLst/>
            <a:ahLst/>
            <a:cxnLst/>
            <a:rect l="l" t="t" r="r" b="b"/>
            <a:pathLst>
              <a:path w="2252125" h="1126062">
                <a:moveTo>
                  <a:pt x="0" y="0"/>
                </a:moveTo>
                <a:lnTo>
                  <a:pt x="2252124" y="0"/>
                </a:lnTo>
                <a:lnTo>
                  <a:pt x="2252124" y="1126062"/>
                </a:lnTo>
                <a:lnTo>
                  <a:pt x="0" y="112606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1749240" flipV="1">
            <a:off x="1905275" y="650043"/>
            <a:ext cx="2128989" cy="1064495"/>
          </a:xfrm>
          <a:custGeom>
            <a:avLst/>
            <a:gdLst/>
            <a:ahLst/>
            <a:cxnLst/>
            <a:rect l="l" t="t" r="r" b="b"/>
            <a:pathLst>
              <a:path w="2128989" h="1064495">
                <a:moveTo>
                  <a:pt x="0" y="1064495"/>
                </a:moveTo>
                <a:lnTo>
                  <a:pt x="2128989" y="1064495"/>
                </a:lnTo>
                <a:lnTo>
                  <a:pt x="2128989" y="0"/>
                </a:lnTo>
                <a:lnTo>
                  <a:pt x="0" y="0"/>
                </a:lnTo>
                <a:lnTo>
                  <a:pt x="0" y="106449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6491586" y="8853488"/>
            <a:ext cx="2364581" cy="2364581"/>
          </a:xfrm>
          <a:custGeom>
            <a:avLst/>
            <a:gdLst/>
            <a:ahLst/>
            <a:cxnLst/>
            <a:rect l="l" t="t" r="r" b="b"/>
            <a:pathLst>
              <a:path w="2364581" h="2364581">
                <a:moveTo>
                  <a:pt x="0" y="0"/>
                </a:moveTo>
                <a:lnTo>
                  <a:pt x="2364581" y="0"/>
                </a:lnTo>
                <a:lnTo>
                  <a:pt x="2364581" y="2364581"/>
                </a:lnTo>
                <a:lnTo>
                  <a:pt x="0" y="236458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869488" y="-983397"/>
            <a:ext cx="2364581" cy="2364581"/>
          </a:xfrm>
          <a:custGeom>
            <a:avLst/>
            <a:gdLst/>
            <a:ahLst/>
            <a:cxnLst/>
            <a:rect l="l" t="t" r="r" b="b"/>
            <a:pathLst>
              <a:path w="2364581" h="2364581">
                <a:moveTo>
                  <a:pt x="0" y="0"/>
                </a:moveTo>
                <a:lnTo>
                  <a:pt x="2364581" y="0"/>
                </a:lnTo>
                <a:lnTo>
                  <a:pt x="2364581" y="2364582"/>
                </a:lnTo>
                <a:lnTo>
                  <a:pt x="0" y="23645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3843648" y="1238250"/>
            <a:ext cx="13830229" cy="2661723"/>
          </a:xfrm>
          <a:prstGeom prst="rect">
            <a:avLst/>
          </a:prstGeom>
        </p:spPr>
        <p:txBody>
          <a:bodyPr lIns="0" tIns="0" rIns="0" bIns="0" rtlCol="0" anchor="t">
            <a:spAutoFit/>
          </a:bodyPr>
          <a:lstStyle/>
          <a:p>
            <a:pPr algn="ctr">
              <a:lnSpc>
                <a:spcPts val="10292"/>
              </a:lnSpc>
            </a:pPr>
            <a:r>
              <a:rPr lang="en-US" sz="10292" b="1">
                <a:solidFill>
                  <a:srgbClr val="03275A"/>
                </a:solidFill>
                <a:latin typeface="Nunito Sans Bold"/>
                <a:ea typeface="Nunito Sans Bold"/>
                <a:cs typeface="Nunito Sans Bold"/>
                <a:sym typeface="Nunito Sans Bold"/>
              </a:rPr>
              <a:t>CONCEPTS USED</a:t>
            </a:r>
          </a:p>
          <a:p>
            <a:pPr algn="ctr">
              <a:lnSpc>
                <a:spcPts val="10292"/>
              </a:lnSpc>
            </a:pPr>
            <a:endParaRPr lang="en-US" sz="10292" b="1">
              <a:solidFill>
                <a:srgbClr val="03275A"/>
              </a:solidFill>
              <a:latin typeface="Nunito Sans Bold"/>
              <a:ea typeface="Nunito Sans Bold"/>
              <a:cs typeface="Nunito Sans Bold"/>
              <a:sym typeface="Nunito Sans Bold"/>
            </a:endParaRPr>
          </a:p>
        </p:txBody>
      </p:sp>
      <p:sp>
        <p:nvSpPr>
          <p:cNvPr id="9" name="TextBox 9"/>
          <p:cNvSpPr txBox="1"/>
          <p:nvPr/>
        </p:nvSpPr>
        <p:spPr>
          <a:xfrm>
            <a:off x="1275630" y="3281651"/>
            <a:ext cx="13745699" cy="4129336"/>
          </a:xfrm>
          <a:prstGeom prst="rect">
            <a:avLst/>
          </a:prstGeom>
        </p:spPr>
        <p:txBody>
          <a:bodyPr lIns="0" tIns="0" rIns="0" bIns="0" rtlCol="0" anchor="t">
            <a:spAutoFit/>
          </a:bodyPr>
          <a:lstStyle/>
          <a:p>
            <a:pPr marL="712470" lvl="1" indent="-356235" algn="l">
              <a:lnSpc>
                <a:spcPts val="4620"/>
              </a:lnSpc>
              <a:buFont typeface="Arial"/>
              <a:buChar char="•"/>
            </a:pPr>
            <a:r>
              <a:rPr lang="en-US" sz="3300" dirty="0">
                <a:solidFill>
                  <a:srgbClr val="03275A"/>
                </a:solidFill>
                <a:latin typeface="Amiko"/>
                <a:ea typeface="Amiko"/>
                <a:cs typeface="Amiko"/>
                <a:sym typeface="Amiko"/>
              </a:rPr>
              <a:t>Structures</a:t>
            </a:r>
          </a:p>
          <a:p>
            <a:pPr marL="712470" lvl="1" indent="-356235" algn="l">
              <a:lnSpc>
                <a:spcPts val="4620"/>
              </a:lnSpc>
              <a:buFont typeface="Arial"/>
              <a:buChar char="•"/>
            </a:pPr>
            <a:r>
              <a:rPr lang="en-US" sz="3300" dirty="0">
                <a:solidFill>
                  <a:srgbClr val="03275A"/>
                </a:solidFill>
                <a:latin typeface="Amiko"/>
                <a:ea typeface="Amiko"/>
                <a:cs typeface="Amiko"/>
                <a:sym typeface="Amiko"/>
              </a:rPr>
              <a:t>Array</a:t>
            </a:r>
          </a:p>
          <a:p>
            <a:pPr marL="712470" lvl="1" indent="-356235" algn="l">
              <a:lnSpc>
                <a:spcPts val="4620"/>
              </a:lnSpc>
              <a:buFont typeface="Arial"/>
              <a:buChar char="•"/>
            </a:pPr>
            <a:r>
              <a:rPr lang="en-US" sz="3300" dirty="0">
                <a:solidFill>
                  <a:srgbClr val="03275A"/>
                </a:solidFill>
                <a:latin typeface="Amiko"/>
                <a:ea typeface="Amiko"/>
                <a:cs typeface="Amiko"/>
                <a:sym typeface="Amiko"/>
              </a:rPr>
              <a:t>Functions</a:t>
            </a:r>
          </a:p>
          <a:p>
            <a:pPr marL="712470" lvl="1" indent="-356235" algn="l">
              <a:lnSpc>
                <a:spcPts val="4620"/>
              </a:lnSpc>
              <a:buFont typeface="Arial"/>
              <a:buChar char="•"/>
            </a:pPr>
            <a:r>
              <a:rPr lang="en-US" sz="3300" dirty="0">
                <a:solidFill>
                  <a:srgbClr val="03275A"/>
                </a:solidFill>
                <a:latin typeface="Amiko"/>
                <a:ea typeface="Amiko"/>
                <a:cs typeface="Amiko"/>
                <a:sym typeface="Amiko"/>
              </a:rPr>
              <a:t>Loops</a:t>
            </a:r>
          </a:p>
          <a:p>
            <a:pPr marL="712470" lvl="1" indent="-356235" algn="l">
              <a:lnSpc>
                <a:spcPts val="4620"/>
              </a:lnSpc>
              <a:buFont typeface="Arial"/>
              <a:buChar char="•"/>
            </a:pPr>
            <a:r>
              <a:rPr lang="en-US" sz="3300" dirty="0">
                <a:solidFill>
                  <a:srgbClr val="03275A"/>
                </a:solidFill>
                <a:latin typeface="Amiko"/>
                <a:ea typeface="Amiko"/>
                <a:cs typeface="Amiko"/>
                <a:sym typeface="Amiko"/>
              </a:rPr>
              <a:t>Conditional statements</a:t>
            </a:r>
          </a:p>
          <a:p>
            <a:pPr marL="712470" lvl="1" indent="-356235" algn="l">
              <a:lnSpc>
                <a:spcPts val="4620"/>
              </a:lnSpc>
              <a:buFont typeface="Arial"/>
              <a:buChar char="•"/>
            </a:pPr>
            <a:r>
              <a:rPr lang="en-US" sz="3300" dirty="0">
                <a:solidFill>
                  <a:srgbClr val="03275A"/>
                </a:solidFill>
                <a:latin typeface="Amiko"/>
                <a:ea typeface="Amiko"/>
                <a:cs typeface="Amiko"/>
                <a:sym typeface="Amiko"/>
              </a:rPr>
              <a:t>Menu driven program</a:t>
            </a:r>
          </a:p>
          <a:p>
            <a:pPr marL="712470" lvl="1" indent="-356235" algn="l">
              <a:lnSpc>
                <a:spcPts val="4620"/>
              </a:lnSpc>
              <a:buFont typeface="Arial"/>
              <a:buChar char="•"/>
            </a:pPr>
            <a:r>
              <a:rPr lang="en-US" sz="3300" dirty="0">
                <a:solidFill>
                  <a:srgbClr val="03275A"/>
                </a:solidFill>
                <a:latin typeface="Amiko"/>
                <a:ea typeface="Amiko"/>
                <a:cs typeface="Amiko"/>
                <a:sym typeface="Amiko"/>
              </a:rPr>
              <a:t>File handling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Freeform 2"/>
          <p:cNvSpPr/>
          <p:nvPr/>
        </p:nvSpPr>
        <p:spPr>
          <a:xfrm>
            <a:off x="9583365" y="6257806"/>
            <a:ext cx="10093406" cy="6000989"/>
          </a:xfrm>
          <a:custGeom>
            <a:avLst/>
            <a:gdLst/>
            <a:ahLst/>
            <a:cxnLst/>
            <a:rect l="l" t="t" r="r" b="b"/>
            <a:pathLst>
              <a:path w="10093406" h="6000989">
                <a:moveTo>
                  <a:pt x="0" y="0"/>
                </a:moveTo>
                <a:lnTo>
                  <a:pt x="10093406" y="0"/>
                </a:lnTo>
                <a:lnTo>
                  <a:pt x="10093406" y="6000988"/>
                </a:lnTo>
                <a:lnTo>
                  <a:pt x="0" y="600098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H="1" flipV="1">
            <a:off x="-3265860" y="-1023938"/>
            <a:ext cx="10093406" cy="6000989"/>
          </a:xfrm>
          <a:custGeom>
            <a:avLst/>
            <a:gdLst/>
            <a:ahLst/>
            <a:cxnLst/>
            <a:rect l="l" t="t" r="r" b="b"/>
            <a:pathLst>
              <a:path w="10093406" h="6000989">
                <a:moveTo>
                  <a:pt x="10093406" y="6000989"/>
                </a:moveTo>
                <a:lnTo>
                  <a:pt x="0" y="6000989"/>
                </a:lnTo>
                <a:lnTo>
                  <a:pt x="0" y="0"/>
                </a:lnTo>
                <a:lnTo>
                  <a:pt x="10093406" y="0"/>
                </a:lnTo>
                <a:lnTo>
                  <a:pt x="10093406" y="6000989"/>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1749240">
            <a:off x="14107833" y="8613248"/>
            <a:ext cx="2252125" cy="1126062"/>
          </a:xfrm>
          <a:custGeom>
            <a:avLst/>
            <a:gdLst/>
            <a:ahLst/>
            <a:cxnLst/>
            <a:rect l="l" t="t" r="r" b="b"/>
            <a:pathLst>
              <a:path w="2252125" h="1126062">
                <a:moveTo>
                  <a:pt x="0" y="0"/>
                </a:moveTo>
                <a:lnTo>
                  <a:pt x="2252124" y="0"/>
                </a:lnTo>
                <a:lnTo>
                  <a:pt x="2252124" y="1126062"/>
                </a:lnTo>
                <a:lnTo>
                  <a:pt x="0" y="112606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1749240" flipV="1">
            <a:off x="1905275" y="650043"/>
            <a:ext cx="2128989" cy="1064495"/>
          </a:xfrm>
          <a:custGeom>
            <a:avLst/>
            <a:gdLst/>
            <a:ahLst/>
            <a:cxnLst/>
            <a:rect l="l" t="t" r="r" b="b"/>
            <a:pathLst>
              <a:path w="2128989" h="1064495">
                <a:moveTo>
                  <a:pt x="0" y="1064495"/>
                </a:moveTo>
                <a:lnTo>
                  <a:pt x="2128989" y="1064495"/>
                </a:lnTo>
                <a:lnTo>
                  <a:pt x="2128989" y="0"/>
                </a:lnTo>
                <a:lnTo>
                  <a:pt x="0" y="0"/>
                </a:lnTo>
                <a:lnTo>
                  <a:pt x="0" y="106449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6491586" y="8853488"/>
            <a:ext cx="2364581" cy="2364581"/>
          </a:xfrm>
          <a:custGeom>
            <a:avLst/>
            <a:gdLst/>
            <a:ahLst/>
            <a:cxnLst/>
            <a:rect l="l" t="t" r="r" b="b"/>
            <a:pathLst>
              <a:path w="2364581" h="2364581">
                <a:moveTo>
                  <a:pt x="0" y="0"/>
                </a:moveTo>
                <a:lnTo>
                  <a:pt x="2364581" y="0"/>
                </a:lnTo>
                <a:lnTo>
                  <a:pt x="2364581" y="2364581"/>
                </a:lnTo>
                <a:lnTo>
                  <a:pt x="0" y="236458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869488" y="-983397"/>
            <a:ext cx="2364581" cy="2364581"/>
          </a:xfrm>
          <a:custGeom>
            <a:avLst/>
            <a:gdLst/>
            <a:ahLst/>
            <a:cxnLst/>
            <a:rect l="l" t="t" r="r" b="b"/>
            <a:pathLst>
              <a:path w="2364581" h="2364581">
                <a:moveTo>
                  <a:pt x="0" y="0"/>
                </a:moveTo>
                <a:lnTo>
                  <a:pt x="2364581" y="0"/>
                </a:lnTo>
                <a:lnTo>
                  <a:pt x="2364581" y="2364582"/>
                </a:lnTo>
                <a:lnTo>
                  <a:pt x="0" y="23645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3644738" y="2428746"/>
            <a:ext cx="10998524" cy="1356798"/>
          </a:xfrm>
          <a:prstGeom prst="rect">
            <a:avLst/>
          </a:prstGeom>
        </p:spPr>
        <p:txBody>
          <a:bodyPr lIns="0" tIns="0" rIns="0" bIns="0" rtlCol="0" anchor="t">
            <a:spAutoFit/>
          </a:bodyPr>
          <a:lstStyle/>
          <a:p>
            <a:pPr algn="ctr">
              <a:lnSpc>
                <a:spcPts val="10292"/>
              </a:lnSpc>
            </a:pPr>
            <a:r>
              <a:rPr lang="en-US" sz="10292" b="1">
                <a:solidFill>
                  <a:srgbClr val="03275A"/>
                </a:solidFill>
                <a:latin typeface="Nunito Sans Bold"/>
                <a:ea typeface="Nunito Sans Bold"/>
                <a:cs typeface="Nunito Sans Bold"/>
                <a:sym typeface="Nunito Sans Bold"/>
              </a:rPr>
              <a:t>WORKING </a:t>
            </a:r>
          </a:p>
        </p:txBody>
      </p:sp>
      <p:sp>
        <p:nvSpPr>
          <p:cNvPr id="9" name="TextBox 9"/>
          <p:cNvSpPr txBox="1"/>
          <p:nvPr/>
        </p:nvSpPr>
        <p:spPr>
          <a:xfrm>
            <a:off x="2770665" y="4017774"/>
            <a:ext cx="13246184" cy="5212080"/>
          </a:xfrm>
          <a:prstGeom prst="rect">
            <a:avLst/>
          </a:prstGeom>
        </p:spPr>
        <p:txBody>
          <a:bodyPr lIns="0" tIns="0" rIns="0" bIns="0" rtlCol="0" anchor="t">
            <a:spAutoFit/>
          </a:bodyPr>
          <a:lstStyle/>
          <a:p>
            <a:pPr marL="712470" lvl="1" indent="-356235" algn="l">
              <a:lnSpc>
                <a:spcPts val="4620"/>
              </a:lnSpc>
              <a:buAutoNum type="arabicPeriod"/>
            </a:pPr>
            <a:r>
              <a:rPr lang="en-US" sz="3300">
                <a:solidFill>
                  <a:srgbClr val="03275A"/>
                </a:solidFill>
                <a:latin typeface="Amiko"/>
                <a:ea typeface="Amiko"/>
                <a:cs typeface="Amiko"/>
                <a:sym typeface="Amiko"/>
              </a:rPr>
              <a:t>User enters number of households. </a:t>
            </a:r>
          </a:p>
          <a:p>
            <a:pPr marL="712470" lvl="1" indent="-356235" algn="l">
              <a:lnSpc>
                <a:spcPts val="4620"/>
              </a:lnSpc>
              <a:buAutoNum type="arabicPeriod"/>
            </a:pPr>
            <a:r>
              <a:rPr lang="en-US" sz="3300">
                <a:solidFill>
                  <a:srgbClr val="03275A"/>
                </a:solidFill>
                <a:latin typeface="Amiko"/>
                <a:ea typeface="Amiko"/>
                <a:cs typeface="Amiko"/>
                <a:sym typeface="Amiko"/>
              </a:rPr>
              <a:t>User enters household data: </a:t>
            </a:r>
          </a:p>
          <a:p>
            <a:pPr marL="712470" lvl="1" indent="-356235" algn="l">
              <a:lnSpc>
                <a:spcPts val="4620"/>
              </a:lnSpc>
              <a:buFont typeface="Arial"/>
              <a:buChar char="•"/>
            </a:pPr>
            <a:r>
              <a:rPr lang="en-US" sz="3300">
                <a:solidFill>
                  <a:srgbClr val="03275A"/>
                </a:solidFill>
                <a:latin typeface="Amiko"/>
                <a:ea typeface="Amiko"/>
                <a:cs typeface="Amiko"/>
                <a:sym typeface="Amiko"/>
              </a:rPr>
              <a:t>ID </a:t>
            </a:r>
          </a:p>
          <a:p>
            <a:pPr marL="712470" lvl="1" indent="-356235" algn="l">
              <a:lnSpc>
                <a:spcPts val="4620"/>
              </a:lnSpc>
              <a:buFont typeface="Arial"/>
              <a:buChar char="•"/>
            </a:pPr>
            <a:r>
              <a:rPr lang="en-US" sz="3300">
                <a:solidFill>
                  <a:srgbClr val="03275A"/>
                </a:solidFill>
                <a:latin typeface="Amiko"/>
                <a:ea typeface="Amiko"/>
                <a:cs typeface="Amiko"/>
                <a:sym typeface="Amiko"/>
              </a:rPr>
              <a:t>Income </a:t>
            </a:r>
          </a:p>
          <a:p>
            <a:pPr marL="712470" lvl="1" indent="-356235" algn="l">
              <a:lnSpc>
                <a:spcPts val="4620"/>
              </a:lnSpc>
              <a:buFont typeface="Arial"/>
              <a:buChar char="•"/>
            </a:pPr>
            <a:r>
              <a:rPr lang="en-US" sz="3300">
                <a:solidFill>
                  <a:srgbClr val="03275A"/>
                </a:solidFill>
                <a:latin typeface="Amiko"/>
                <a:ea typeface="Amiko"/>
                <a:cs typeface="Amiko"/>
                <a:sym typeface="Amiko"/>
              </a:rPr>
              <a:t>Expense </a:t>
            </a:r>
          </a:p>
          <a:p>
            <a:pPr marL="712470" lvl="1" indent="-356235" algn="l">
              <a:lnSpc>
                <a:spcPts val="4620"/>
              </a:lnSpc>
              <a:buAutoNum type="arabicPeriod"/>
            </a:pPr>
            <a:r>
              <a:rPr lang="en-US" sz="3300">
                <a:solidFill>
                  <a:srgbClr val="03275A"/>
                </a:solidFill>
                <a:latin typeface="Amiko"/>
                <a:ea typeface="Amiko"/>
                <a:cs typeface="Amiko"/>
                <a:sym typeface="Amiko"/>
              </a:rPr>
              <a:t>Savings are automatically calculated. </a:t>
            </a:r>
          </a:p>
          <a:p>
            <a:pPr marL="712470" lvl="1" indent="-356235" algn="l">
              <a:lnSpc>
                <a:spcPts val="4620"/>
              </a:lnSpc>
              <a:buAutoNum type="arabicPeriod"/>
            </a:pPr>
            <a:r>
              <a:rPr lang="en-US" sz="3300">
                <a:solidFill>
                  <a:srgbClr val="03275A"/>
                </a:solidFill>
                <a:latin typeface="Amiko"/>
                <a:ea typeface="Amiko"/>
                <a:cs typeface="Amiko"/>
                <a:sym typeface="Amiko"/>
              </a:rPr>
              <a:t>Menu options allow different operations. </a:t>
            </a:r>
          </a:p>
          <a:p>
            <a:pPr marL="712470" lvl="1" indent="-356235" algn="l">
              <a:lnSpc>
                <a:spcPts val="4620"/>
              </a:lnSpc>
              <a:buAutoNum type="arabicPeriod"/>
            </a:pPr>
            <a:r>
              <a:rPr lang="en-US" sz="3300">
                <a:solidFill>
                  <a:srgbClr val="03275A"/>
                </a:solidFill>
                <a:latin typeface="Amiko"/>
                <a:ea typeface="Amiko"/>
                <a:cs typeface="Amiko"/>
                <a:sym typeface="Amiko"/>
              </a:rPr>
              <a:t>User can search records and analyze data. </a:t>
            </a:r>
          </a:p>
          <a:p>
            <a:pPr algn="ctr">
              <a:lnSpc>
                <a:spcPts val="4620"/>
              </a:lnSpc>
            </a:pPr>
            <a:endParaRPr lang="en-US" sz="3300">
              <a:solidFill>
                <a:srgbClr val="03275A"/>
              </a:solidFill>
              <a:latin typeface="Amiko"/>
              <a:ea typeface="Amiko"/>
              <a:cs typeface="Amiko"/>
              <a:sym typeface="Amik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3">
            <a:extLst>
              <a:ext uri="{FF2B5EF4-FFF2-40B4-BE49-F238E27FC236}">
                <a16:creationId xmlns:a16="http://schemas.microsoft.com/office/drawing/2014/main" id="{03785737-350E-6963-87BF-A4394F66E08B}"/>
              </a:ext>
            </a:extLst>
          </p:cNvPr>
          <p:cNvSpPr/>
          <p:nvPr/>
        </p:nvSpPr>
        <p:spPr>
          <a:xfrm flipH="1" flipV="1">
            <a:off x="-3265860" y="-1023938"/>
            <a:ext cx="10093406" cy="6000989"/>
          </a:xfrm>
          <a:custGeom>
            <a:avLst/>
            <a:gdLst/>
            <a:ahLst/>
            <a:cxnLst/>
            <a:rect l="l" t="t" r="r" b="b"/>
            <a:pathLst>
              <a:path w="10093406" h="6000989">
                <a:moveTo>
                  <a:pt x="10093406" y="6000989"/>
                </a:moveTo>
                <a:lnTo>
                  <a:pt x="0" y="6000989"/>
                </a:lnTo>
                <a:lnTo>
                  <a:pt x="0" y="0"/>
                </a:lnTo>
                <a:lnTo>
                  <a:pt x="10093406" y="0"/>
                </a:lnTo>
                <a:lnTo>
                  <a:pt x="10093406" y="6000989"/>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7">
            <a:extLst>
              <a:ext uri="{FF2B5EF4-FFF2-40B4-BE49-F238E27FC236}">
                <a16:creationId xmlns:a16="http://schemas.microsoft.com/office/drawing/2014/main" id="{D9FB56F0-1285-45F8-62CD-1B0DA497339D}"/>
              </a:ext>
            </a:extLst>
          </p:cNvPr>
          <p:cNvSpPr/>
          <p:nvPr/>
        </p:nvSpPr>
        <p:spPr>
          <a:xfrm>
            <a:off x="-869488" y="-983397"/>
            <a:ext cx="2364581" cy="2364581"/>
          </a:xfrm>
          <a:custGeom>
            <a:avLst/>
            <a:gdLst/>
            <a:ahLst/>
            <a:cxnLst/>
            <a:rect l="l" t="t" r="r" b="b"/>
            <a:pathLst>
              <a:path w="2364581" h="2364581">
                <a:moveTo>
                  <a:pt x="0" y="0"/>
                </a:moveTo>
                <a:lnTo>
                  <a:pt x="2364581" y="0"/>
                </a:lnTo>
                <a:lnTo>
                  <a:pt x="2364581" y="2364582"/>
                </a:lnTo>
                <a:lnTo>
                  <a:pt x="0" y="236458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5">
            <a:extLst>
              <a:ext uri="{FF2B5EF4-FFF2-40B4-BE49-F238E27FC236}">
                <a16:creationId xmlns:a16="http://schemas.microsoft.com/office/drawing/2014/main" id="{151BCD32-8FA9-2F00-8FFE-F05C48DE801D}"/>
              </a:ext>
            </a:extLst>
          </p:cNvPr>
          <p:cNvSpPr/>
          <p:nvPr/>
        </p:nvSpPr>
        <p:spPr>
          <a:xfrm rot="-1749240" flipV="1">
            <a:off x="1905275" y="650043"/>
            <a:ext cx="2128989" cy="1064495"/>
          </a:xfrm>
          <a:custGeom>
            <a:avLst/>
            <a:gdLst/>
            <a:ahLst/>
            <a:cxnLst/>
            <a:rect l="l" t="t" r="r" b="b"/>
            <a:pathLst>
              <a:path w="2128989" h="1064495">
                <a:moveTo>
                  <a:pt x="0" y="1064495"/>
                </a:moveTo>
                <a:lnTo>
                  <a:pt x="2128989" y="1064495"/>
                </a:lnTo>
                <a:lnTo>
                  <a:pt x="2128989" y="0"/>
                </a:lnTo>
                <a:lnTo>
                  <a:pt x="0" y="0"/>
                </a:lnTo>
                <a:lnTo>
                  <a:pt x="0" y="1064495"/>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2">
            <a:extLst>
              <a:ext uri="{FF2B5EF4-FFF2-40B4-BE49-F238E27FC236}">
                <a16:creationId xmlns:a16="http://schemas.microsoft.com/office/drawing/2014/main" id="{CA4D7D7B-0388-4958-6D3F-3BCE30CE6F5C}"/>
              </a:ext>
            </a:extLst>
          </p:cNvPr>
          <p:cNvSpPr/>
          <p:nvPr/>
        </p:nvSpPr>
        <p:spPr>
          <a:xfrm>
            <a:off x="9583365" y="6257806"/>
            <a:ext cx="10093406" cy="6000989"/>
          </a:xfrm>
          <a:custGeom>
            <a:avLst/>
            <a:gdLst/>
            <a:ahLst/>
            <a:cxnLst/>
            <a:rect l="l" t="t" r="r" b="b"/>
            <a:pathLst>
              <a:path w="10093406" h="6000989">
                <a:moveTo>
                  <a:pt x="0" y="0"/>
                </a:moveTo>
                <a:lnTo>
                  <a:pt x="10093406" y="0"/>
                </a:lnTo>
                <a:lnTo>
                  <a:pt x="10093406" y="6000988"/>
                </a:lnTo>
                <a:lnTo>
                  <a:pt x="0" y="600098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7" name="Freeform 6">
            <a:extLst>
              <a:ext uri="{FF2B5EF4-FFF2-40B4-BE49-F238E27FC236}">
                <a16:creationId xmlns:a16="http://schemas.microsoft.com/office/drawing/2014/main" id="{E6CF4494-B943-DD8D-4DA5-35EFB5F8A7A4}"/>
              </a:ext>
            </a:extLst>
          </p:cNvPr>
          <p:cNvSpPr/>
          <p:nvPr/>
        </p:nvSpPr>
        <p:spPr>
          <a:xfrm>
            <a:off x="16491586" y="8853488"/>
            <a:ext cx="2364581" cy="2364581"/>
          </a:xfrm>
          <a:custGeom>
            <a:avLst/>
            <a:gdLst/>
            <a:ahLst/>
            <a:cxnLst/>
            <a:rect l="l" t="t" r="r" b="b"/>
            <a:pathLst>
              <a:path w="2364581" h="2364581">
                <a:moveTo>
                  <a:pt x="0" y="0"/>
                </a:moveTo>
                <a:lnTo>
                  <a:pt x="2364581" y="0"/>
                </a:lnTo>
                <a:lnTo>
                  <a:pt x="2364581" y="2364581"/>
                </a:lnTo>
                <a:lnTo>
                  <a:pt x="0" y="236458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4">
            <a:extLst>
              <a:ext uri="{FF2B5EF4-FFF2-40B4-BE49-F238E27FC236}">
                <a16:creationId xmlns:a16="http://schemas.microsoft.com/office/drawing/2014/main" id="{CD4B4775-FD74-1944-B8D1-F3AAEE5E7474}"/>
              </a:ext>
            </a:extLst>
          </p:cNvPr>
          <p:cNvSpPr/>
          <p:nvPr/>
        </p:nvSpPr>
        <p:spPr>
          <a:xfrm rot="-1749240">
            <a:off x="14107833" y="8613248"/>
            <a:ext cx="2252125" cy="1126062"/>
          </a:xfrm>
          <a:custGeom>
            <a:avLst/>
            <a:gdLst/>
            <a:ahLst/>
            <a:cxnLst/>
            <a:rect l="l" t="t" r="r" b="b"/>
            <a:pathLst>
              <a:path w="2252125" h="1126062">
                <a:moveTo>
                  <a:pt x="0" y="0"/>
                </a:moveTo>
                <a:lnTo>
                  <a:pt x="2252124" y="0"/>
                </a:lnTo>
                <a:lnTo>
                  <a:pt x="2252124" y="1126062"/>
                </a:lnTo>
                <a:lnTo>
                  <a:pt x="0" y="112606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10" name="Picture 9">
            <a:extLst>
              <a:ext uri="{FF2B5EF4-FFF2-40B4-BE49-F238E27FC236}">
                <a16:creationId xmlns:a16="http://schemas.microsoft.com/office/drawing/2014/main" id="{AD544D12-D703-C8A9-3DF0-C6175CC97A28}"/>
              </a:ext>
            </a:extLst>
          </p:cNvPr>
          <p:cNvPicPr>
            <a:picLocks noChangeAspect="1"/>
          </p:cNvPicPr>
          <p:nvPr/>
        </p:nvPicPr>
        <p:blipFill>
          <a:blip r:embed="rId5"/>
          <a:stretch>
            <a:fillRect/>
          </a:stretch>
        </p:blipFill>
        <p:spPr>
          <a:xfrm>
            <a:off x="469409" y="3616463"/>
            <a:ext cx="6749376" cy="52826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2" name="Picture 11">
            <a:extLst>
              <a:ext uri="{FF2B5EF4-FFF2-40B4-BE49-F238E27FC236}">
                <a16:creationId xmlns:a16="http://schemas.microsoft.com/office/drawing/2014/main" id="{F6A39529-2084-910D-3697-EB97D31DF4E4}"/>
              </a:ext>
            </a:extLst>
          </p:cNvPr>
          <p:cNvPicPr>
            <a:picLocks noChangeAspect="1"/>
          </p:cNvPicPr>
          <p:nvPr/>
        </p:nvPicPr>
        <p:blipFill>
          <a:blip r:embed="rId6"/>
          <a:stretch>
            <a:fillRect/>
          </a:stretch>
        </p:blipFill>
        <p:spPr>
          <a:xfrm>
            <a:off x="8356101" y="3306156"/>
            <a:ext cx="8135485" cy="482984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3" name="TextBox 8">
            <a:extLst>
              <a:ext uri="{FF2B5EF4-FFF2-40B4-BE49-F238E27FC236}">
                <a16:creationId xmlns:a16="http://schemas.microsoft.com/office/drawing/2014/main" id="{698EF194-BA2C-07CC-8082-B40F26D96006}"/>
              </a:ext>
            </a:extLst>
          </p:cNvPr>
          <p:cNvSpPr txBox="1"/>
          <p:nvPr/>
        </p:nvSpPr>
        <p:spPr>
          <a:xfrm>
            <a:off x="3819516" y="1379955"/>
            <a:ext cx="10998524" cy="1386598"/>
          </a:xfrm>
          <a:prstGeom prst="rect">
            <a:avLst/>
          </a:prstGeom>
        </p:spPr>
        <p:txBody>
          <a:bodyPr lIns="0" tIns="0" rIns="0" bIns="0" rtlCol="0" anchor="t">
            <a:spAutoFit/>
          </a:bodyPr>
          <a:lstStyle/>
          <a:p>
            <a:pPr algn="ctr">
              <a:lnSpc>
                <a:spcPts val="10292"/>
              </a:lnSpc>
            </a:pPr>
            <a:r>
              <a:rPr lang="en-US" sz="10292" b="1" dirty="0">
                <a:solidFill>
                  <a:srgbClr val="03275A"/>
                </a:solidFill>
                <a:latin typeface="Nunito Sans Bold"/>
                <a:ea typeface="Nunito Sans Bold"/>
                <a:cs typeface="Nunito Sans Bold"/>
                <a:sym typeface="Nunito Sans Bold"/>
              </a:rPr>
              <a:t>SOURCE CODE </a:t>
            </a:r>
          </a:p>
        </p:txBody>
      </p:sp>
    </p:spTree>
    <p:extLst>
      <p:ext uri="{BB962C8B-B14F-4D97-AF65-F5344CB8AC3E}">
        <p14:creationId xmlns:p14="http://schemas.microsoft.com/office/powerpoint/2010/main" val="158367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Freeform 2"/>
          <p:cNvSpPr/>
          <p:nvPr/>
        </p:nvSpPr>
        <p:spPr>
          <a:xfrm>
            <a:off x="9583365" y="6257806"/>
            <a:ext cx="10093406" cy="6000989"/>
          </a:xfrm>
          <a:custGeom>
            <a:avLst/>
            <a:gdLst/>
            <a:ahLst/>
            <a:cxnLst/>
            <a:rect l="l" t="t" r="r" b="b"/>
            <a:pathLst>
              <a:path w="10093406" h="6000989">
                <a:moveTo>
                  <a:pt x="0" y="0"/>
                </a:moveTo>
                <a:lnTo>
                  <a:pt x="10093406" y="0"/>
                </a:lnTo>
                <a:lnTo>
                  <a:pt x="10093406" y="6000988"/>
                </a:lnTo>
                <a:lnTo>
                  <a:pt x="0" y="600098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H="1" flipV="1">
            <a:off x="-3265860" y="-1023938"/>
            <a:ext cx="10093406" cy="6000989"/>
          </a:xfrm>
          <a:custGeom>
            <a:avLst/>
            <a:gdLst/>
            <a:ahLst/>
            <a:cxnLst/>
            <a:rect l="l" t="t" r="r" b="b"/>
            <a:pathLst>
              <a:path w="10093406" h="6000989">
                <a:moveTo>
                  <a:pt x="10093406" y="6000989"/>
                </a:moveTo>
                <a:lnTo>
                  <a:pt x="0" y="6000989"/>
                </a:lnTo>
                <a:lnTo>
                  <a:pt x="0" y="0"/>
                </a:lnTo>
                <a:lnTo>
                  <a:pt x="10093406" y="0"/>
                </a:lnTo>
                <a:lnTo>
                  <a:pt x="10093406" y="6000989"/>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1749240">
            <a:off x="14107833" y="8613248"/>
            <a:ext cx="2252125" cy="1126062"/>
          </a:xfrm>
          <a:custGeom>
            <a:avLst/>
            <a:gdLst/>
            <a:ahLst/>
            <a:cxnLst/>
            <a:rect l="l" t="t" r="r" b="b"/>
            <a:pathLst>
              <a:path w="2252125" h="1126062">
                <a:moveTo>
                  <a:pt x="0" y="0"/>
                </a:moveTo>
                <a:lnTo>
                  <a:pt x="2252124" y="0"/>
                </a:lnTo>
                <a:lnTo>
                  <a:pt x="2252124" y="1126062"/>
                </a:lnTo>
                <a:lnTo>
                  <a:pt x="0" y="112606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1749240" flipV="1">
            <a:off x="1905275" y="650043"/>
            <a:ext cx="2128989" cy="1064495"/>
          </a:xfrm>
          <a:custGeom>
            <a:avLst/>
            <a:gdLst/>
            <a:ahLst/>
            <a:cxnLst/>
            <a:rect l="l" t="t" r="r" b="b"/>
            <a:pathLst>
              <a:path w="2128989" h="1064495">
                <a:moveTo>
                  <a:pt x="0" y="1064495"/>
                </a:moveTo>
                <a:lnTo>
                  <a:pt x="2128989" y="1064495"/>
                </a:lnTo>
                <a:lnTo>
                  <a:pt x="2128989" y="0"/>
                </a:lnTo>
                <a:lnTo>
                  <a:pt x="0" y="0"/>
                </a:lnTo>
                <a:lnTo>
                  <a:pt x="0" y="106449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6491586" y="8853488"/>
            <a:ext cx="2364581" cy="2364581"/>
          </a:xfrm>
          <a:custGeom>
            <a:avLst/>
            <a:gdLst/>
            <a:ahLst/>
            <a:cxnLst/>
            <a:rect l="l" t="t" r="r" b="b"/>
            <a:pathLst>
              <a:path w="2364581" h="2364581">
                <a:moveTo>
                  <a:pt x="0" y="0"/>
                </a:moveTo>
                <a:lnTo>
                  <a:pt x="2364581" y="0"/>
                </a:lnTo>
                <a:lnTo>
                  <a:pt x="2364581" y="2364581"/>
                </a:lnTo>
                <a:lnTo>
                  <a:pt x="0" y="236458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869488" y="-983397"/>
            <a:ext cx="2364581" cy="2364581"/>
          </a:xfrm>
          <a:custGeom>
            <a:avLst/>
            <a:gdLst/>
            <a:ahLst/>
            <a:cxnLst/>
            <a:rect l="l" t="t" r="r" b="b"/>
            <a:pathLst>
              <a:path w="2364581" h="2364581">
                <a:moveTo>
                  <a:pt x="0" y="0"/>
                </a:moveTo>
                <a:lnTo>
                  <a:pt x="2364581" y="0"/>
                </a:lnTo>
                <a:lnTo>
                  <a:pt x="2364581" y="2364582"/>
                </a:lnTo>
                <a:lnTo>
                  <a:pt x="0" y="23645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4358224" y="1402933"/>
            <a:ext cx="12901076" cy="1356798"/>
          </a:xfrm>
          <a:prstGeom prst="rect">
            <a:avLst/>
          </a:prstGeom>
        </p:spPr>
        <p:txBody>
          <a:bodyPr lIns="0" tIns="0" rIns="0" bIns="0" rtlCol="0" anchor="t">
            <a:spAutoFit/>
          </a:bodyPr>
          <a:lstStyle/>
          <a:p>
            <a:pPr algn="ctr">
              <a:lnSpc>
                <a:spcPts val="10292"/>
              </a:lnSpc>
            </a:pPr>
            <a:r>
              <a:rPr lang="en-US" sz="10292" b="1">
                <a:solidFill>
                  <a:srgbClr val="03275A"/>
                </a:solidFill>
                <a:latin typeface="Nunito Sans Bold"/>
                <a:ea typeface="Nunito Sans Bold"/>
                <a:cs typeface="Nunito Sans Bold"/>
                <a:sym typeface="Nunito Sans Bold"/>
              </a:rPr>
              <a:t>SAMPLE OUTPUT</a:t>
            </a:r>
          </a:p>
        </p:txBody>
      </p:sp>
      <p:sp>
        <p:nvSpPr>
          <p:cNvPr id="9" name="TextBox 9"/>
          <p:cNvSpPr txBox="1"/>
          <p:nvPr/>
        </p:nvSpPr>
        <p:spPr>
          <a:xfrm>
            <a:off x="2271151" y="3102610"/>
            <a:ext cx="13745699" cy="7184390"/>
          </a:xfrm>
          <a:prstGeom prst="rect">
            <a:avLst/>
          </a:prstGeom>
        </p:spPr>
        <p:txBody>
          <a:bodyPr lIns="0" tIns="0" rIns="0" bIns="0" rtlCol="0" anchor="t">
            <a:spAutoFit/>
          </a:bodyPr>
          <a:lstStyle/>
          <a:p>
            <a:pPr algn="ctr">
              <a:lnSpc>
                <a:spcPts val="4060"/>
              </a:lnSpc>
            </a:pPr>
            <a:r>
              <a:rPr lang="en-US" sz="2900">
                <a:solidFill>
                  <a:srgbClr val="03275A"/>
                </a:solidFill>
                <a:latin typeface="Amiko"/>
                <a:ea typeface="Amiko"/>
                <a:cs typeface="Amiko"/>
                <a:sym typeface="Amiko"/>
              </a:rPr>
              <a:t>=====================================</a:t>
            </a:r>
          </a:p>
          <a:p>
            <a:pPr algn="ctr">
              <a:lnSpc>
                <a:spcPts val="4060"/>
              </a:lnSpc>
            </a:pPr>
            <a:r>
              <a:rPr lang="en-US" sz="2900">
                <a:solidFill>
                  <a:srgbClr val="03275A"/>
                </a:solidFill>
                <a:latin typeface="Amiko"/>
                <a:ea typeface="Amiko"/>
                <a:cs typeface="Amiko"/>
                <a:sym typeface="Amiko"/>
              </a:rPr>
              <a:t> ECONOMIC SURVEY MANAGEMENT SYSTEM</a:t>
            </a:r>
          </a:p>
          <a:p>
            <a:pPr algn="ctr">
              <a:lnSpc>
                <a:spcPts val="4060"/>
              </a:lnSpc>
            </a:pPr>
            <a:r>
              <a:rPr lang="en-US" sz="2900">
                <a:solidFill>
                  <a:srgbClr val="03275A"/>
                </a:solidFill>
                <a:latin typeface="Amiko"/>
                <a:ea typeface="Amiko"/>
                <a:cs typeface="Amiko"/>
                <a:sym typeface="Amiko"/>
              </a:rPr>
              <a:t> =====================================</a:t>
            </a:r>
          </a:p>
          <a:p>
            <a:pPr algn="ctr">
              <a:lnSpc>
                <a:spcPts val="4060"/>
              </a:lnSpc>
            </a:pPr>
            <a:endParaRPr lang="en-US" sz="2900">
              <a:solidFill>
                <a:srgbClr val="03275A"/>
              </a:solidFill>
              <a:latin typeface="Amiko"/>
              <a:ea typeface="Amiko"/>
              <a:cs typeface="Amiko"/>
              <a:sym typeface="Amiko"/>
            </a:endParaRPr>
          </a:p>
          <a:p>
            <a:pPr algn="ctr">
              <a:lnSpc>
                <a:spcPts val="4060"/>
              </a:lnSpc>
            </a:pPr>
            <a:r>
              <a:rPr lang="en-US" sz="2900">
                <a:solidFill>
                  <a:srgbClr val="03275A"/>
                </a:solidFill>
                <a:latin typeface="Amiko"/>
                <a:ea typeface="Amiko"/>
                <a:cs typeface="Amiko"/>
                <a:sym typeface="Amiko"/>
              </a:rPr>
              <a:t> Enter number of households: 2</a:t>
            </a:r>
          </a:p>
          <a:p>
            <a:pPr algn="ctr">
              <a:lnSpc>
                <a:spcPts val="4060"/>
              </a:lnSpc>
            </a:pPr>
            <a:r>
              <a:rPr lang="en-US" sz="2900">
                <a:solidFill>
                  <a:srgbClr val="03275A"/>
                </a:solidFill>
                <a:latin typeface="Amiko"/>
                <a:ea typeface="Amiko"/>
                <a:cs typeface="Amiko"/>
                <a:sym typeface="Amiko"/>
              </a:rPr>
              <a:t> Enter data for household 1</a:t>
            </a:r>
          </a:p>
          <a:p>
            <a:pPr algn="ctr">
              <a:lnSpc>
                <a:spcPts val="4060"/>
              </a:lnSpc>
            </a:pPr>
            <a:r>
              <a:rPr lang="en-US" sz="2900">
                <a:solidFill>
                  <a:srgbClr val="03275A"/>
                </a:solidFill>
                <a:latin typeface="Amiko"/>
                <a:ea typeface="Amiko"/>
                <a:cs typeface="Amiko"/>
                <a:sym typeface="Amiko"/>
              </a:rPr>
              <a:t> Enter household ID: 101</a:t>
            </a:r>
          </a:p>
          <a:p>
            <a:pPr algn="ctr">
              <a:lnSpc>
                <a:spcPts val="4060"/>
              </a:lnSpc>
            </a:pPr>
            <a:r>
              <a:rPr lang="en-US" sz="2900">
                <a:solidFill>
                  <a:srgbClr val="03275A"/>
                </a:solidFill>
                <a:latin typeface="Amiko"/>
                <a:ea typeface="Amiko"/>
                <a:cs typeface="Amiko"/>
                <a:sym typeface="Amiko"/>
              </a:rPr>
              <a:t> Enter monthly income: 50000</a:t>
            </a:r>
          </a:p>
          <a:p>
            <a:pPr algn="ctr">
              <a:lnSpc>
                <a:spcPts val="4060"/>
              </a:lnSpc>
            </a:pPr>
            <a:r>
              <a:rPr lang="en-US" sz="2900">
                <a:solidFill>
                  <a:srgbClr val="03275A"/>
                </a:solidFill>
                <a:latin typeface="Amiko"/>
                <a:ea typeface="Amiko"/>
                <a:cs typeface="Amiko"/>
                <a:sym typeface="Amiko"/>
              </a:rPr>
              <a:t> Enter monthly expense: 30000</a:t>
            </a:r>
          </a:p>
          <a:p>
            <a:pPr algn="ctr">
              <a:lnSpc>
                <a:spcPts val="4060"/>
              </a:lnSpc>
            </a:pPr>
            <a:r>
              <a:rPr lang="en-US" sz="2900">
                <a:solidFill>
                  <a:srgbClr val="03275A"/>
                </a:solidFill>
                <a:latin typeface="Amiko"/>
                <a:ea typeface="Amiko"/>
                <a:cs typeface="Amiko"/>
                <a:sym typeface="Amiko"/>
              </a:rPr>
              <a:t> Enter data for household 2</a:t>
            </a:r>
          </a:p>
          <a:p>
            <a:pPr algn="ctr">
              <a:lnSpc>
                <a:spcPts val="4060"/>
              </a:lnSpc>
            </a:pPr>
            <a:r>
              <a:rPr lang="en-US" sz="2900">
                <a:solidFill>
                  <a:srgbClr val="03275A"/>
                </a:solidFill>
                <a:latin typeface="Amiko"/>
                <a:ea typeface="Amiko"/>
                <a:cs typeface="Amiko"/>
                <a:sym typeface="Amiko"/>
              </a:rPr>
              <a:t> Enter household ID: 102</a:t>
            </a:r>
          </a:p>
          <a:p>
            <a:pPr algn="ctr">
              <a:lnSpc>
                <a:spcPts val="4060"/>
              </a:lnSpc>
            </a:pPr>
            <a:r>
              <a:rPr lang="en-US" sz="2900">
                <a:solidFill>
                  <a:srgbClr val="03275A"/>
                </a:solidFill>
                <a:latin typeface="Amiko"/>
                <a:ea typeface="Amiko"/>
                <a:cs typeface="Amiko"/>
                <a:sym typeface="Amiko"/>
              </a:rPr>
              <a:t> Enter monthly income: 25000</a:t>
            </a:r>
          </a:p>
          <a:p>
            <a:pPr algn="ctr">
              <a:lnSpc>
                <a:spcPts val="4060"/>
              </a:lnSpc>
            </a:pPr>
            <a:r>
              <a:rPr lang="en-US" sz="2900">
                <a:solidFill>
                  <a:srgbClr val="03275A"/>
                </a:solidFill>
                <a:latin typeface="Amiko"/>
                <a:ea typeface="Amiko"/>
                <a:cs typeface="Amiko"/>
                <a:sym typeface="Amiko"/>
              </a:rPr>
              <a:t> Enter monthly expense: 20000</a:t>
            </a:r>
          </a:p>
          <a:p>
            <a:pPr algn="ctr">
              <a:lnSpc>
                <a:spcPts val="4060"/>
              </a:lnSpc>
            </a:pPr>
            <a:endParaRPr lang="en-US" sz="2900">
              <a:solidFill>
                <a:srgbClr val="03275A"/>
              </a:solidFill>
              <a:latin typeface="Amiko"/>
              <a:ea typeface="Amiko"/>
              <a:cs typeface="Amiko"/>
              <a:sym typeface="Amik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Freeform 2"/>
          <p:cNvSpPr/>
          <p:nvPr/>
        </p:nvSpPr>
        <p:spPr>
          <a:xfrm>
            <a:off x="9583365" y="6257806"/>
            <a:ext cx="10093406" cy="6000989"/>
          </a:xfrm>
          <a:custGeom>
            <a:avLst/>
            <a:gdLst/>
            <a:ahLst/>
            <a:cxnLst/>
            <a:rect l="l" t="t" r="r" b="b"/>
            <a:pathLst>
              <a:path w="10093406" h="6000989">
                <a:moveTo>
                  <a:pt x="0" y="0"/>
                </a:moveTo>
                <a:lnTo>
                  <a:pt x="10093406" y="0"/>
                </a:lnTo>
                <a:lnTo>
                  <a:pt x="10093406" y="6000988"/>
                </a:lnTo>
                <a:lnTo>
                  <a:pt x="0" y="600098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H="1" flipV="1">
            <a:off x="-3265860" y="-1023938"/>
            <a:ext cx="10093406" cy="6000989"/>
          </a:xfrm>
          <a:custGeom>
            <a:avLst/>
            <a:gdLst/>
            <a:ahLst/>
            <a:cxnLst/>
            <a:rect l="l" t="t" r="r" b="b"/>
            <a:pathLst>
              <a:path w="10093406" h="6000989">
                <a:moveTo>
                  <a:pt x="10093406" y="6000989"/>
                </a:moveTo>
                <a:lnTo>
                  <a:pt x="0" y="6000989"/>
                </a:lnTo>
                <a:lnTo>
                  <a:pt x="0" y="0"/>
                </a:lnTo>
                <a:lnTo>
                  <a:pt x="10093406" y="0"/>
                </a:lnTo>
                <a:lnTo>
                  <a:pt x="10093406" y="6000989"/>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1749240">
            <a:off x="14107833" y="8613248"/>
            <a:ext cx="2252125" cy="1126062"/>
          </a:xfrm>
          <a:custGeom>
            <a:avLst/>
            <a:gdLst/>
            <a:ahLst/>
            <a:cxnLst/>
            <a:rect l="l" t="t" r="r" b="b"/>
            <a:pathLst>
              <a:path w="2252125" h="1126062">
                <a:moveTo>
                  <a:pt x="0" y="0"/>
                </a:moveTo>
                <a:lnTo>
                  <a:pt x="2252124" y="0"/>
                </a:lnTo>
                <a:lnTo>
                  <a:pt x="2252124" y="1126062"/>
                </a:lnTo>
                <a:lnTo>
                  <a:pt x="0" y="112606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1749240" flipV="1">
            <a:off x="1905275" y="650043"/>
            <a:ext cx="2128989" cy="1064495"/>
          </a:xfrm>
          <a:custGeom>
            <a:avLst/>
            <a:gdLst/>
            <a:ahLst/>
            <a:cxnLst/>
            <a:rect l="l" t="t" r="r" b="b"/>
            <a:pathLst>
              <a:path w="2128989" h="1064495">
                <a:moveTo>
                  <a:pt x="0" y="1064495"/>
                </a:moveTo>
                <a:lnTo>
                  <a:pt x="2128989" y="1064495"/>
                </a:lnTo>
                <a:lnTo>
                  <a:pt x="2128989" y="0"/>
                </a:lnTo>
                <a:lnTo>
                  <a:pt x="0" y="0"/>
                </a:lnTo>
                <a:lnTo>
                  <a:pt x="0" y="106449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6491586" y="8853488"/>
            <a:ext cx="2364581" cy="2364581"/>
          </a:xfrm>
          <a:custGeom>
            <a:avLst/>
            <a:gdLst/>
            <a:ahLst/>
            <a:cxnLst/>
            <a:rect l="l" t="t" r="r" b="b"/>
            <a:pathLst>
              <a:path w="2364581" h="2364581">
                <a:moveTo>
                  <a:pt x="0" y="0"/>
                </a:moveTo>
                <a:lnTo>
                  <a:pt x="2364581" y="0"/>
                </a:lnTo>
                <a:lnTo>
                  <a:pt x="2364581" y="2364581"/>
                </a:lnTo>
                <a:lnTo>
                  <a:pt x="0" y="236458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869488" y="-983397"/>
            <a:ext cx="2364581" cy="2364581"/>
          </a:xfrm>
          <a:custGeom>
            <a:avLst/>
            <a:gdLst/>
            <a:ahLst/>
            <a:cxnLst/>
            <a:rect l="l" t="t" r="r" b="b"/>
            <a:pathLst>
              <a:path w="2364581" h="2364581">
                <a:moveTo>
                  <a:pt x="0" y="0"/>
                </a:moveTo>
                <a:lnTo>
                  <a:pt x="2364581" y="0"/>
                </a:lnTo>
                <a:lnTo>
                  <a:pt x="2364581" y="2364582"/>
                </a:lnTo>
                <a:lnTo>
                  <a:pt x="0" y="23645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3644738" y="2428746"/>
            <a:ext cx="10998524" cy="1356798"/>
          </a:xfrm>
          <a:prstGeom prst="rect">
            <a:avLst/>
          </a:prstGeom>
        </p:spPr>
        <p:txBody>
          <a:bodyPr lIns="0" tIns="0" rIns="0" bIns="0" rtlCol="0" anchor="t">
            <a:spAutoFit/>
          </a:bodyPr>
          <a:lstStyle/>
          <a:p>
            <a:pPr algn="ctr">
              <a:lnSpc>
                <a:spcPts val="10292"/>
              </a:lnSpc>
            </a:pPr>
            <a:r>
              <a:rPr lang="en-US" sz="10292" b="1">
                <a:solidFill>
                  <a:srgbClr val="03275A"/>
                </a:solidFill>
                <a:latin typeface="Nunito Sans Bold"/>
                <a:ea typeface="Nunito Sans Bold"/>
                <a:cs typeface="Nunito Sans Bold"/>
                <a:sym typeface="Nunito Sans Bold"/>
              </a:rPr>
              <a:t>ADVANTAGES </a:t>
            </a:r>
          </a:p>
        </p:txBody>
      </p:sp>
      <p:sp>
        <p:nvSpPr>
          <p:cNvPr id="9" name="TextBox 9"/>
          <p:cNvSpPr txBox="1"/>
          <p:nvPr/>
        </p:nvSpPr>
        <p:spPr>
          <a:xfrm>
            <a:off x="2271151" y="4017774"/>
            <a:ext cx="13745699" cy="3469005"/>
          </a:xfrm>
          <a:prstGeom prst="rect">
            <a:avLst/>
          </a:prstGeom>
        </p:spPr>
        <p:txBody>
          <a:bodyPr lIns="0" tIns="0" rIns="0" bIns="0" rtlCol="0" anchor="t">
            <a:spAutoFit/>
          </a:bodyPr>
          <a:lstStyle/>
          <a:p>
            <a:pPr marL="712470" lvl="1" indent="-356235" algn="l">
              <a:lnSpc>
                <a:spcPts val="4620"/>
              </a:lnSpc>
              <a:buFont typeface="Arial"/>
              <a:buChar char="•"/>
            </a:pPr>
            <a:r>
              <a:rPr lang="en-US" sz="3300">
                <a:solidFill>
                  <a:srgbClr val="03275A"/>
                </a:solidFill>
                <a:latin typeface="Amiko"/>
                <a:ea typeface="Amiko"/>
                <a:cs typeface="Amiko"/>
                <a:sym typeface="Amiko"/>
              </a:rPr>
              <a:t>Simple and user friendly </a:t>
            </a:r>
          </a:p>
          <a:p>
            <a:pPr marL="712470" lvl="1" indent="-356235" algn="l">
              <a:lnSpc>
                <a:spcPts val="4620"/>
              </a:lnSpc>
              <a:buFont typeface="Arial"/>
              <a:buChar char="•"/>
            </a:pPr>
            <a:r>
              <a:rPr lang="en-US" sz="3300">
                <a:solidFill>
                  <a:srgbClr val="03275A"/>
                </a:solidFill>
                <a:latin typeface="Amiko"/>
                <a:ea typeface="Amiko"/>
                <a:cs typeface="Amiko"/>
                <a:sym typeface="Amiko"/>
              </a:rPr>
              <a:t>Easy economic data analysis </a:t>
            </a:r>
          </a:p>
          <a:p>
            <a:pPr marL="712470" lvl="1" indent="-356235" algn="l">
              <a:lnSpc>
                <a:spcPts val="4620"/>
              </a:lnSpc>
              <a:buFont typeface="Arial"/>
              <a:buChar char="•"/>
            </a:pPr>
            <a:r>
              <a:rPr lang="en-US" sz="3300">
                <a:solidFill>
                  <a:srgbClr val="03275A"/>
                </a:solidFill>
                <a:latin typeface="Amiko"/>
                <a:ea typeface="Amiko"/>
                <a:cs typeface="Amiko"/>
                <a:sym typeface="Amiko"/>
              </a:rPr>
              <a:t>Demonstrates major C concepts </a:t>
            </a:r>
          </a:p>
          <a:p>
            <a:pPr marL="712470" lvl="1" indent="-356235" algn="l">
              <a:lnSpc>
                <a:spcPts val="4620"/>
              </a:lnSpc>
              <a:buFont typeface="Arial"/>
              <a:buChar char="•"/>
            </a:pPr>
            <a:r>
              <a:rPr lang="en-US" sz="3300">
                <a:solidFill>
                  <a:srgbClr val="03275A"/>
                </a:solidFill>
                <a:latin typeface="Amiko"/>
                <a:ea typeface="Amiko"/>
                <a:cs typeface="Amiko"/>
                <a:sym typeface="Amiko"/>
              </a:rPr>
              <a:t>Helpful for beginners </a:t>
            </a:r>
          </a:p>
          <a:p>
            <a:pPr marL="712470" lvl="1" indent="-356235" algn="l">
              <a:lnSpc>
                <a:spcPts val="4620"/>
              </a:lnSpc>
              <a:buFont typeface="Arial"/>
              <a:buChar char="•"/>
            </a:pPr>
            <a:r>
              <a:rPr lang="en-US" sz="3300">
                <a:solidFill>
                  <a:srgbClr val="03275A"/>
                </a:solidFill>
                <a:latin typeface="Amiko"/>
                <a:ea typeface="Amiko"/>
                <a:cs typeface="Amiko"/>
                <a:sym typeface="Amiko"/>
              </a:rPr>
              <a:t>Useful for academic learning </a:t>
            </a:r>
          </a:p>
          <a:p>
            <a:pPr algn="just">
              <a:lnSpc>
                <a:spcPts val="4620"/>
              </a:lnSpc>
            </a:pPr>
            <a:endParaRPr lang="en-US" sz="3300">
              <a:solidFill>
                <a:srgbClr val="03275A"/>
              </a:solidFill>
              <a:latin typeface="Amiko"/>
              <a:ea typeface="Amiko"/>
              <a:cs typeface="Amiko"/>
              <a:sym typeface="Amik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Freeform 2"/>
          <p:cNvSpPr/>
          <p:nvPr/>
        </p:nvSpPr>
        <p:spPr>
          <a:xfrm>
            <a:off x="9583365" y="6257806"/>
            <a:ext cx="10093406" cy="6000989"/>
          </a:xfrm>
          <a:custGeom>
            <a:avLst/>
            <a:gdLst/>
            <a:ahLst/>
            <a:cxnLst/>
            <a:rect l="l" t="t" r="r" b="b"/>
            <a:pathLst>
              <a:path w="10093406" h="6000989">
                <a:moveTo>
                  <a:pt x="0" y="0"/>
                </a:moveTo>
                <a:lnTo>
                  <a:pt x="10093406" y="0"/>
                </a:lnTo>
                <a:lnTo>
                  <a:pt x="10093406" y="6000988"/>
                </a:lnTo>
                <a:lnTo>
                  <a:pt x="0" y="600098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H="1" flipV="1">
            <a:off x="-3265860" y="-1023938"/>
            <a:ext cx="10093406" cy="6000989"/>
          </a:xfrm>
          <a:custGeom>
            <a:avLst/>
            <a:gdLst/>
            <a:ahLst/>
            <a:cxnLst/>
            <a:rect l="l" t="t" r="r" b="b"/>
            <a:pathLst>
              <a:path w="10093406" h="6000989">
                <a:moveTo>
                  <a:pt x="10093406" y="6000989"/>
                </a:moveTo>
                <a:lnTo>
                  <a:pt x="0" y="6000989"/>
                </a:lnTo>
                <a:lnTo>
                  <a:pt x="0" y="0"/>
                </a:lnTo>
                <a:lnTo>
                  <a:pt x="10093406" y="0"/>
                </a:lnTo>
                <a:lnTo>
                  <a:pt x="10093406" y="6000989"/>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1749240">
            <a:off x="14107833" y="8613248"/>
            <a:ext cx="2252125" cy="1126062"/>
          </a:xfrm>
          <a:custGeom>
            <a:avLst/>
            <a:gdLst/>
            <a:ahLst/>
            <a:cxnLst/>
            <a:rect l="l" t="t" r="r" b="b"/>
            <a:pathLst>
              <a:path w="2252125" h="1126062">
                <a:moveTo>
                  <a:pt x="0" y="0"/>
                </a:moveTo>
                <a:lnTo>
                  <a:pt x="2252124" y="0"/>
                </a:lnTo>
                <a:lnTo>
                  <a:pt x="2252124" y="1126062"/>
                </a:lnTo>
                <a:lnTo>
                  <a:pt x="0" y="112606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1749240" flipV="1">
            <a:off x="1905275" y="650043"/>
            <a:ext cx="2128989" cy="1064495"/>
          </a:xfrm>
          <a:custGeom>
            <a:avLst/>
            <a:gdLst/>
            <a:ahLst/>
            <a:cxnLst/>
            <a:rect l="l" t="t" r="r" b="b"/>
            <a:pathLst>
              <a:path w="2128989" h="1064495">
                <a:moveTo>
                  <a:pt x="0" y="1064495"/>
                </a:moveTo>
                <a:lnTo>
                  <a:pt x="2128989" y="1064495"/>
                </a:lnTo>
                <a:lnTo>
                  <a:pt x="2128989" y="0"/>
                </a:lnTo>
                <a:lnTo>
                  <a:pt x="0" y="0"/>
                </a:lnTo>
                <a:lnTo>
                  <a:pt x="0" y="106449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6491586" y="8853488"/>
            <a:ext cx="2364581" cy="2364581"/>
          </a:xfrm>
          <a:custGeom>
            <a:avLst/>
            <a:gdLst/>
            <a:ahLst/>
            <a:cxnLst/>
            <a:rect l="l" t="t" r="r" b="b"/>
            <a:pathLst>
              <a:path w="2364581" h="2364581">
                <a:moveTo>
                  <a:pt x="0" y="0"/>
                </a:moveTo>
                <a:lnTo>
                  <a:pt x="2364581" y="0"/>
                </a:lnTo>
                <a:lnTo>
                  <a:pt x="2364581" y="2364581"/>
                </a:lnTo>
                <a:lnTo>
                  <a:pt x="0" y="236458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869488" y="-983397"/>
            <a:ext cx="2364581" cy="2364581"/>
          </a:xfrm>
          <a:custGeom>
            <a:avLst/>
            <a:gdLst/>
            <a:ahLst/>
            <a:cxnLst/>
            <a:rect l="l" t="t" r="r" b="b"/>
            <a:pathLst>
              <a:path w="2364581" h="2364581">
                <a:moveTo>
                  <a:pt x="0" y="0"/>
                </a:moveTo>
                <a:lnTo>
                  <a:pt x="2364581" y="0"/>
                </a:lnTo>
                <a:lnTo>
                  <a:pt x="2364581" y="2364582"/>
                </a:lnTo>
                <a:lnTo>
                  <a:pt x="0" y="23645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3644738" y="2428746"/>
            <a:ext cx="10998524" cy="2661723"/>
          </a:xfrm>
          <a:prstGeom prst="rect">
            <a:avLst/>
          </a:prstGeom>
        </p:spPr>
        <p:txBody>
          <a:bodyPr lIns="0" tIns="0" rIns="0" bIns="0" rtlCol="0" anchor="t">
            <a:spAutoFit/>
          </a:bodyPr>
          <a:lstStyle/>
          <a:p>
            <a:pPr algn="ctr">
              <a:lnSpc>
                <a:spcPts val="10292"/>
              </a:lnSpc>
            </a:pPr>
            <a:r>
              <a:rPr lang="en-US" sz="10292" b="1" dirty="0">
                <a:solidFill>
                  <a:srgbClr val="03275A"/>
                </a:solidFill>
                <a:latin typeface="Nunito Sans Bold"/>
                <a:ea typeface="Nunito Sans Bold"/>
                <a:cs typeface="Nunito Sans Bold"/>
                <a:sym typeface="Nunito Sans Bold"/>
              </a:rPr>
              <a:t>LIMITATIONS</a:t>
            </a:r>
          </a:p>
          <a:p>
            <a:pPr algn="ctr">
              <a:lnSpc>
                <a:spcPts val="10292"/>
              </a:lnSpc>
            </a:pPr>
            <a:endParaRPr lang="en-US" sz="10292" b="1" dirty="0">
              <a:solidFill>
                <a:srgbClr val="03275A"/>
              </a:solidFill>
              <a:latin typeface="Nunito Sans Bold"/>
              <a:ea typeface="Nunito Sans Bold"/>
              <a:cs typeface="Nunito Sans Bold"/>
              <a:sym typeface="Nunito Sans Bold"/>
            </a:endParaRPr>
          </a:p>
        </p:txBody>
      </p:sp>
      <p:sp>
        <p:nvSpPr>
          <p:cNvPr id="9" name="TextBox 9"/>
          <p:cNvSpPr txBox="1"/>
          <p:nvPr/>
        </p:nvSpPr>
        <p:spPr>
          <a:xfrm>
            <a:off x="2271151" y="4017774"/>
            <a:ext cx="13745699" cy="1769715"/>
          </a:xfrm>
          <a:prstGeom prst="rect">
            <a:avLst/>
          </a:prstGeom>
        </p:spPr>
        <p:txBody>
          <a:bodyPr lIns="0" tIns="0" rIns="0" bIns="0" rtlCol="0" anchor="t">
            <a:spAutoFit/>
          </a:bodyPr>
          <a:lstStyle/>
          <a:p>
            <a:pPr marL="712470" lvl="1" indent="-356235" algn="l">
              <a:lnSpc>
                <a:spcPts val="4620"/>
              </a:lnSpc>
              <a:buFont typeface="Arial"/>
              <a:buChar char="•"/>
            </a:pPr>
            <a:r>
              <a:rPr lang="en-US" sz="3300" dirty="0">
                <a:solidFill>
                  <a:srgbClr val="03275A"/>
                </a:solidFill>
                <a:latin typeface="Amiko"/>
                <a:ea typeface="Amiko"/>
                <a:cs typeface="Amiko"/>
                <a:sym typeface="Amiko"/>
              </a:rPr>
              <a:t>Limited statistical analysis </a:t>
            </a:r>
          </a:p>
          <a:p>
            <a:pPr marL="712470" lvl="1" indent="-356235" algn="l">
              <a:lnSpc>
                <a:spcPts val="4620"/>
              </a:lnSpc>
              <a:buFont typeface="Arial"/>
              <a:buChar char="•"/>
            </a:pPr>
            <a:r>
              <a:rPr lang="en-US" sz="3300" dirty="0">
                <a:solidFill>
                  <a:srgbClr val="03275A"/>
                </a:solidFill>
                <a:latin typeface="Amiko"/>
                <a:ea typeface="Amiko"/>
                <a:cs typeface="Amiko"/>
                <a:sym typeface="Amiko"/>
              </a:rPr>
              <a:t>No graphical interface </a:t>
            </a:r>
          </a:p>
          <a:p>
            <a:pPr algn="l">
              <a:lnSpc>
                <a:spcPts val="4620"/>
              </a:lnSpc>
            </a:pPr>
            <a:endParaRPr lang="en-US" sz="3300" dirty="0">
              <a:solidFill>
                <a:srgbClr val="03275A"/>
              </a:solidFill>
              <a:latin typeface="Amiko"/>
              <a:ea typeface="Amiko"/>
              <a:cs typeface="Amiko"/>
              <a:sym typeface="Amik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Freeform 2"/>
          <p:cNvSpPr/>
          <p:nvPr/>
        </p:nvSpPr>
        <p:spPr>
          <a:xfrm>
            <a:off x="9583365" y="6257806"/>
            <a:ext cx="10093406" cy="6000989"/>
          </a:xfrm>
          <a:custGeom>
            <a:avLst/>
            <a:gdLst/>
            <a:ahLst/>
            <a:cxnLst/>
            <a:rect l="l" t="t" r="r" b="b"/>
            <a:pathLst>
              <a:path w="10093406" h="6000989">
                <a:moveTo>
                  <a:pt x="0" y="0"/>
                </a:moveTo>
                <a:lnTo>
                  <a:pt x="10093406" y="0"/>
                </a:lnTo>
                <a:lnTo>
                  <a:pt x="10093406" y="6000988"/>
                </a:lnTo>
                <a:lnTo>
                  <a:pt x="0" y="600098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H="1" flipV="1">
            <a:off x="-3265860" y="-1023938"/>
            <a:ext cx="10093406" cy="6000989"/>
          </a:xfrm>
          <a:custGeom>
            <a:avLst/>
            <a:gdLst/>
            <a:ahLst/>
            <a:cxnLst/>
            <a:rect l="l" t="t" r="r" b="b"/>
            <a:pathLst>
              <a:path w="10093406" h="6000989">
                <a:moveTo>
                  <a:pt x="10093406" y="6000989"/>
                </a:moveTo>
                <a:lnTo>
                  <a:pt x="0" y="6000989"/>
                </a:lnTo>
                <a:lnTo>
                  <a:pt x="0" y="0"/>
                </a:lnTo>
                <a:lnTo>
                  <a:pt x="10093406" y="0"/>
                </a:lnTo>
                <a:lnTo>
                  <a:pt x="10093406" y="6000989"/>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1749240">
            <a:off x="14107833" y="8613248"/>
            <a:ext cx="2252125" cy="1126062"/>
          </a:xfrm>
          <a:custGeom>
            <a:avLst/>
            <a:gdLst/>
            <a:ahLst/>
            <a:cxnLst/>
            <a:rect l="l" t="t" r="r" b="b"/>
            <a:pathLst>
              <a:path w="2252125" h="1126062">
                <a:moveTo>
                  <a:pt x="0" y="0"/>
                </a:moveTo>
                <a:lnTo>
                  <a:pt x="2252124" y="0"/>
                </a:lnTo>
                <a:lnTo>
                  <a:pt x="2252124" y="1126062"/>
                </a:lnTo>
                <a:lnTo>
                  <a:pt x="0" y="112606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1749240" flipV="1">
            <a:off x="1905275" y="650043"/>
            <a:ext cx="2128989" cy="1064495"/>
          </a:xfrm>
          <a:custGeom>
            <a:avLst/>
            <a:gdLst/>
            <a:ahLst/>
            <a:cxnLst/>
            <a:rect l="l" t="t" r="r" b="b"/>
            <a:pathLst>
              <a:path w="2128989" h="1064495">
                <a:moveTo>
                  <a:pt x="0" y="1064495"/>
                </a:moveTo>
                <a:lnTo>
                  <a:pt x="2128989" y="1064495"/>
                </a:lnTo>
                <a:lnTo>
                  <a:pt x="2128989" y="0"/>
                </a:lnTo>
                <a:lnTo>
                  <a:pt x="0" y="0"/>
                </a:lnTo>
                <a:lnTo>
                  <a:pt x="0" y="106449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6491586" y="8853488"/>
            <a:ext cx="2364581" cy="2364581"/>
          </a:xfrm>
          <a:custGeom>
            <a:avLst/>
            <a:gdLst/>
            <a:ahLst/>
            <a:cxnLst/>
            <a:rect l="l" t="t" r="r" b="b"/>
            <a:pathLst>
              <a:path w="2364581" h="2364581">
                <a:moveTo>
                  <a:pt x="0" y="0"/>
                </a:moveTo>
                <a:lnTo>
                  <a:pt x="2364581" y="0"/>
                </a:lnTo>
                <a:lnTo>
                  <a:pt x="2364581" y="2364581"/>
                </a:lnTo>
                <a:lnTo>
                  <a:pt x="0" y="236458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869488" y="-983397"/>
            <a:ext cx="2364581" cy="2364581"/>
          </a:xfrm>
          <a:custGeom>
            <a:avLst/>
            <a:gdLst/>
            <a:ahLst/>
            <a:cxnLst/>
            <a:rect l="l" t="t" r="r" b="b"/>
            <a:pathLst>
              <a:path w="2364581" h="2364581">
                <a:moveTo>
                  <a:pt x="0" y="0"/>
                </a:moveTo>
                <a:lnTo>
                  <a:pt x="2364581" y="0"/>
                </a:lnTo>
                <a:lnTo>
                  <a:pt x="2364581" y="2364582"/>
                </a:lnTo>
                <a:lnTo>
                  <a:pt x="0" y="23645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3644738" y="2428746"/>
            <a:ext cx="10998524" cy="1356798"/>
          </a:xfrm>
          <a:prstGeom prst="rect">
            <a:avLst/>
          </a:prstGeom>
        </p:spPr>
        <p:txBody>
          <a:bodyPr lIns="0" tIns="0" rIns="0" bIns="0" rtlCol="0" anchor="t">
            <a:spAutoFit/>
          </a:bodyPr>
          <a:lstStyle/>
          <a:p>
            <a:pPr algn="ctr">
              <a:lnSpc>
                <a:spcPts val="10292"/>
              </a:lnSpc>
            </a:pPr>
            <a:r>
              <a:rPr lang="en-US" sz="10292" b="1">
                <a:solidFill>
                  <a:srgbClr val="03275A"/>
                </a:solidFill>
                <a:latin typeface="Nunito Sans Bold"/>
                <a:ea typeface="Nunito Sans Bold"/>
                <a:cs typeface="Nunito Sans Bold"/>
                <a:sym typeface="Nunito Sans Bold"/>
              </a:rPr>
              <a:t>CONCLUSION</a:t>
            </a:r>
          </a:p>
        </p:txBody>
      </p:sp>
      <p:sp>
        <p:nvSpPr>
          <p:cNvPr id="9" name="TextBox 9"/>
          <p:cNvSpPr txBox="1"/>
          <p:nvPr/>
        </p:nvSpPr>
        <p:spPr>
          <a:xfrm>
            <a:off x="2271151" y="4017774"/>
            <a:ext cx="13745699" cy="4129336"/>
          </a:xfrm>
          <a:prstGeom prst="rect">
            <a:avLst/>
          </a:prstGeom>
        </p:spPr>
        <p:txBody>
          <a:bodyPr lIns="0" tIns="0" rIns="0" bIns="0" rtlCol="0" anchor="t">
            <a:spAutoFit/>
          </a:bodyPr>
          <a:lstStyle/>
          <a:p>
            <a:pPr algn="just">
              <a:lnSpc>
                <a:spcPts val="4620"/>
              </a:lnSpc>
            </a:pPr>
            <a:r>
              <a:rPr lang="en-US" sz="3300" dirty="0">
                <a:solidFill>
                  <a:srgbClr val="03275A"/>
                </a:solidFill>
                <a:latin typeface="Amiko"/>
                <a:ea typeface="Amiko"/>
                <a:cs typeface="Amiko"/>
                <a:sym typeface="Amiko"/>
              </a:rPr>
              <a:t>The Economic Survey Management System is a useful C language project for managing and analyzing household economic information. The project combines programming concepts with economic data analysis and provides practical understanding of structures, arrays, functions, and loops in C language.</a:t>
            </a:r>
          </a:p>
          <a:p>
            <a:pPr algn="just">
              <a:lnSpc>
                <a:spcPts val="4620"/>
              </a:lnSpc>
            </a:pPr>
            <a:r>
              <a:rPr lang="en-US" sz="3300" dirty="0">
                <a:solidFill>
                  <a:srgbClr val="03275A"/>
                </a:solidFill>
                <a:latin typeface="Amiko"/>
                <a:ea typeface="Amiko"/>
                <a:cs typeface="Amiko"/>
                <a:sym typeface="Amiko"/>
              </a:rPr>
              <a:t>It is suitable for beginners and academic project submissions.</a:t>
            </a:r>
          </a:p>
          <a:p>
            <a:pPr algn="just">
              <a:lnSpc>
                <a:spcPts val="4620"/>
              </a:lnSpc>
            </a:pPr>
            <a:endParaRPr lang="en-US" sz="3300" dirty="0">
              <a:solidFill>
                <a:srgbClr val="03275A"/>
              </a:solidFill>
              <a:latin typeface="Amiko"/>
              <a:ea typeface="Amiko"/>
              <a:cs typeface="Amiko"/>
              <a:sym typeface="Amik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Freeform 2"/>
          <p:cNvSpPr/>
          <p:nvPr/>
        </p:nvSpPr>
        <p:spPr>
          <a:xfrm>
            <a:off x="9583365" y="6257806"/>
            <a:ext cx="10093406" cy="6000989"/>
          </a:xfrm>
          <a:custGeom>
            <a:avLst/>
            <a:gdLst/>
            <a:ahLst/>
            <a:cxnLst/>
            <a:rect l="l" t="t" r="r" b="b"/>
            <a:pathLst>
              <a:path w="10093406" h="6000989">
                <a:moveTo>
                  <a:pt x="0" y="0"/>
                </a:moveTo>
                <a:lnTo>
                  <a:pt x="10093406" y="0"/>
                </a:lnTo>
                <a:lnTo>
                  <a:pt x="10093406" y="6000988"/>
                </a:lnTo>
                <a:lnTo>
                  <a:pt x="0" y="600098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H="1" flipV="1">
            <a:off x="-3265860" y="-1023938"/>
            <a:ext cx="10093406" cy="6000989"/>
          </a:xfrm>
          <a:custGeom>
            <a:avLst/>
            <a:gdLst/>
            <a:ahLst/>
            <a:cxnLst/>
            <a:rect l="l" t="t" r="r" b="b"/>
            <a:pathLst>
              <a:path w="10093406" h="6000989">
                <a:moveTo>
                  <a:pt x="10093406" y="6000989"/>
                </a:moveTo>
                <a:lnTo>
                  <a:pt x="0" y="6000989"/>
                </a:lnTo>
                <a:lnTo>
                  <a:pt x="0" y="0"/>
                </a:lnTo>
                <a:lnTo>
                  <a:pt x="10093406" y="0"/>
                </a:lnTo>
                <a:lnTo>
                  <a:pt x="10093406" y="6000989"/>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1749240">
            <a:off x="14107833" y="8613248"/>
            <a:ext cx="2252125" cy="1126062"/>
          </a:xfrm>
          <a:custGeom>
            <a:avLst/>
            <a:gdLst/>
            <a:ahLst/>
            <a:cxnLst/>
            <a:rect l="l" t="t" r="r" b="b"/>
            <a:pathLst>
              <a:path w="2252125" h="1126062">
                <a:moveTo>
                  <a:pt x="0" y="0"/>
                </a:moveTo>
                <a:lnTo>
                  <a:pt x="2252124" y="0"/>
                </a:lnTo>
                <a:lnTo>
                  <a:pt x="2252124" y="1126062"/>
                </a:lnTo>
                <a:lnTo>
                  <a:pt x="0" y="112606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1749240" flipV="1">
            <a:off x="1905275" y="650043"/>
            <a:ext cx="2128989" cy="1064495"/>
          </a:xfrm>
          <a:custGeom>
            <a:avLst/>
            <a:gdLst/>
            <a:ahLst/>
            <a:cxnLst/>
            <a:rect l="l" t="t" r="r" b="b"/>
            <a:pathLst>
              <a:path w="2128989" h="1064495">
                <a:moveTo>
                  <a:pt x="0" y="1064495"/>
                </a:moveTo>
                <a:lnTo>
                  <a:pt x="2128989" y="1064495"/>
                </a:lnTo>
                <a:lnTo>
                  <a:pt x="2128989" y="0"/>
                </a:lnTo>
                <a:lnTo>
                  <a:pt x="0" y="0"/>
                </a:lnTo>
                <a:lnTo>
                  <a:pt x="0" y="106449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6491586" y="8853488"/>
            <a:ext cx="2364581" cy="2364581"/>
          </a:xfrm>
          <a:custGeom>
            <a:avLst/>
            <a:gdLst/>
            <a:ahLst/>
            <a:cxnLst/>
            <a:rect l="l" t="t" r="r" b="b"/>
            <a:pathLst>
              <a:path w="2364581" h="2364581">
                <a:moveTo>
                  <a:pt x="0" y="0"/>
                </a:moveTo>
                <a:lnTo>
                  <a:pt x="2364581" y="0"/>
                </a:lnTo>
                <a:lnTo>
                  <a:pt x="2364581" y="2364581"/>
                </a:lnTo>
                <a:lnTo>
                  <a:pt x="0" y="236458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869488" y="-983397"/>
            <a:ext cx="2364581" cy="2364581"/>
          </a:xfrm>
          <a:custGeom>
            <a:avLst/>
            <a:gdLst/>
            <a:ahLst/>
            <a:cxnLst/>
            <a:rect l="l" t="t" r="r" b="b"/>
            <a:pathLst>
              <a:path w="2364581" h="2364581">
                <a:moveTo>
                  <a:pt x="0" y="0"/>
                </a:moveTo>
                <a:lnTo>
                  <a:pt x="2364581" y="0"/>
                </a:lnTo>
                <a:lnTo>
                  <a:pt x="2364581" y="2364582"/>
                </a:lnTo>
                <a:lnTo>
                  <a:pt x="0" y="23645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3644738" y="2428746"/>
            <a:ext cx="10998524" cy="3966648"/>
          </a:xfrm>
          <a:prstGeom prst="rect">
            <a:avLst/>
          </a:prstGeom>
        </p:spPr>
        <p:txBody>
          <a:bodyPr lIns="0" tIns="0" rIns="0" bIns="0" rtlCol="0" anchor="t">
            <a:spAutoFit/>
          </a:bodyPr>
          <a:lstStyle/>
          <a:p>
            <a:pPr algn="ctr">
              <a:lnSpc>
                <a:spcPts val="10292"/>
              </a:lnSpc>
            </a:pPr>
            <a:r>
              <a:rPr lang="en-US" sz="10292" b="1">
                <a:solidFill>
                  <a:srgbClr val="03275A"/>
                </a:solidFill>
                <a:latin typeface="Nunito Sans Bold"/>
                <a:ea typeface="Nunito Sans Bold"/>
                <a:cs typeface="Nunito Sans Bold"/>
                <a:sym typeface="Nunito Sans Bold"/>
              </a:rPr>
              <a:t>TOOLS AND TECHNOLOGIES</a:t>
            </a:r>
          </a:p>
          <a:p>
            <a:pPr algn="ctr">
              <a:lnSpc>
                <a:spcPts val="10292"/>
              </a:lnSpc>
            </a:pPr>
            <a:endParaRPr lang="en-US" sz="10292" b="1">
              <a:solidFill>
                <a:srgbClr val="03275A"/>
              </a:solidFill>
              <a:latin typeface="Nunito Sans Bold"/>
              <a:ea typeface="Nunito Sans Bold"/>
              <a:cs typeface="Nunito Sans Bold"/>
              <a:sym typeface="Nunito Sans Bold"/>
            </a:endParaRPr>
          </a:p>
        </p:txBody>
      </p:sp>
      <p:sp>
        <p:nvSpPr>
          <p:cNvPr id="9" name="TextBox 9"/>
          <p:cNvSpPr txBox="1"/>
          <p:nvPr/>
        </p:nvSpPr>
        <p:spPr>
          <a:xfrm>
            <a:off x="1780843" y="5369713"/>
            <a:ext cx="13745699" cy="1179810"/>
          </a:xfrm>
          <a:prstGeom prst="rect">
            <a:avLst/>
          </a:prstGeom>
        </p:spPr>
        <p:txBody>
          <a:bodyPr lIns="0" tIns="0" rIns="0" bIns="0" rtlCol="0" anchor="t">
            <a:spAutoFit/>
          </a:bodyPr>
          <a:lstStyle/>
          <a:p>
            <a:pPr marL="712470" lvl="1" indent="-356235" algn="l">
              <a:lnSpc>
                <a:spcPts val="4620"/>
              </a:lnSpc>
              <a:buFont typeface="Arial"/>
              <a:buChar char="•"/>
            </a:pPr>
            <a:r>
              <a:rPr lang="en-US" sz="3300" dirty="0">
                <a:solidFill>
                  <a:srgbClr val="03275A"/>
                </a:solidFill>
                <a:latin typeface="Amiko"/>
                <a:ea typeface="Amiko"/>
                <a:cs typeface="Amiko"/>
                <a:sym typeface="Amiko"/>
              </a:rPr>
              <a:t>C Language </a:t>
            </a:r>
          </a:p>
          <a:p>
            <a:pPr marL="712470" lvl="1" indent="-356235" algn="l">
              <a:lnSpc>
                <a:spcPts val="4620"/>
              </a:lnSpc>
              <a:buFont typeface="Arial"/>
              <a:buChar char="•"/>
            </a:pPr>
            <a:r>
              <a:rPr lang="en-US" sz="3300" dirty="0">
                <a:solidFill>
                  <a:srgbClr val="03275A"/>
                </a:solidFill>
                <a:latin typeface="Amiko"/>
                <a:ea typeface="Amiko"/>
                <a:cs typeface="Amiko"/>
                <a:sym typeface="Amiko"/>
              </a:rPr>
              <a:t>Dev 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Freeform 2"/>
          <p:cNvSpPr/>
          <p:nvPr/>
        </p:nvSpPr>
        <p:spPr>
          <a:xfrm>
            <a:off x="9583365" y="6257806"/>
            <a:ext cx="10093406" cy="6000989"/>
          </a:xfrm>
          <a:custGeom>
            <a:avLst/>
            <a:gdLst/>
            <a:ahLst/>
            <a:cxnLst/>
            <a:rect l="l" t="t" r="r" b="b"/>
            <a:pathLst>
              <a:path w="10093406" h="6000989">
                <a:moveTo>
                  <a:pt x="0" y="0"/>
                </a:moveTo>
                <a:lnTo>
                  <a:pt x="10093406" y="0"/>
                </a:lnTo>
                <a:lnTo>
                  <a:pt x="10093406" y="6000988"/>
                </a:lnTo>
                <a:lnTo>
                  <a:pt x="0" y="600098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H="1" flipV="1">
            <a:off x="-3265860" y="-1023938"/>
            <a:ext cx="10093406" cy="6000989"/>
          </a:xfrm>
          <a:custGeom>
            <a:avLst/>
            <a:gdLst/>
            <a:ahLst/>
            <a:cxnLst/>
            <a:rect l="l" t="t" r="r" b="b"/>
            <a:pathLst>
              <a:path w="10093406" h="6000989">
                <a:moveTo>
                  <a:pt x="10093406" y="6000989"/>
                </a:moveTo>
                <a:lnTo>
                  <a:pt x="0" y="6000989"/>
                </a:lnTo>
                <a:lnTo>
                  <a:pt x="0" y="0"/>
                </a:lnTo>
                <a:lnTo>
                  <a:pt x="10093406" y="0"/>
                </a:lnTo>
                <a:lnTo>
                  <a:pt x="10093406" y="6000989"/>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1749240">
            <a:off x="14107833" y="8613248"/>
            <a:ext cx="2252125" cy="1126062"/>
          </a:xfrm>
          <a:custGeom>
            <a:avLst/>
            <a:gdLst/>
            <a:ahLst/>
            <a:cxnLst/>
            <a:rect l="l" t="t" r="r" b="b"/>
            <a:pathLst>
              <a:path w="2252125" h="1126062">
                <a:moveTo>
                  <a:pt x="0" y="0"/>
                </a:moveTo>
                <a:lnTo>
                  <a:pt x="2252124" y="0"/>
                </a:lnTo>
                <a:lnTo>
                  <a:pt x="2252124" y="1126062"/>
                </a:lnTo>
                <a:lnTo>
                  <a:pt x="0" y="112606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1749240" flipV="1">
            <a:off x="1905275" y="650043"/>
            <a:ext cx="2128989" cy="1064495"/>
          </a:xfrm>
          <a:custGeom>
            <a:avLst/>
            <a:gdLst/>
            <a:ahLst/>
            <a:cxnLst/>
            <a:rect l="l" t="t" r="r" b="b"/>
            <a:pathLst>
              <a:path w="2128989" h="1064495">
                <a:moveTo>
                  <a:pt x="0" y="1064495"/>
                </a:moveTo>
                <a:lnTo>
                  <a:pt x="2128989" y="1064495"/>
                </a:lnTo>
                <a:lnTo>
                  <a:pt x="2128989" y="0"/>
                </a:lnTo>
                <a:lnTo>
                  <a:pt x="0" y="0"/>
                </a:lnTo>
                <a:lnTo>
                  <a:pt x="0" y="106449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6491586" y="8853488"/>
            <a:ext cx="2364581" cy="2364581"/>
          </a:xfrm>
          <a:custGeom>
            <a:avLst/>
            <a:gdLst/>
            <a:ahLst/>
            <a:cxnLst/>
            <a:rect l="l" t="t" r="r" b="b"/>
            <a:pathLst>
              <a:path w="2364581" h="2364581">
                <a:moveTo>
                  <a:pt x="0" y="0"/>
                </a:moveTo>
                <a:lnTo>
                  <a:pt x="2364581" y="0"/>
                </a:lnTo>
                <a:lnTo>
                  <a:pt x="2364581" y="2364581"/>
                </a:lnTo>
                <a:lnTo>
                  <a:pt x="0" y="236458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869488" y="-983397"/>
            <a:ext cx="2364581" cy="2364581"/>
          </a:xfrm>
          <a:custGeom>
            <a:avLst/>
            <a:gdLst/>
            <a:ahLst/>
            <a:cxnLst/>
            <a:rect l="l" t="t" r="r" b="b"/>
            <a:pathLst>
              <a:path w="2364581" h="2364581">
                <a:moveTo>
                  <a:pt x="0" y="0"/>
                </a:moveTo>
                <a:lnTo>
                  <a:pt x="2364581" y="0"/>
                </a:lnTo>
                <a:lnTo>
                  <a:pt x="2364581" y="2364582"/>
                </a:lnTo>
                <a:lnTo>
                  <a:pt x="0" y="23645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4315856" y="3332480"/>
            <a:ext cx="9656288" cy="3917314"/>
          </a:xfrm>
          <a:prstGeom prst="rect">
            <a:avLst/>
          </a:prstGeom>
        </p:spPr>
        <p:txBody>
          <a:bodyPr lIns="0" tIns="0" rIns="0" bIns="0" rtlCol="0" anchor="t">
            <a:spAutoFit/>
          </a:bodyPr>
          <a:lstStyle/>
          <a:p>
            <a:pPr algn="ctr">
              <a:lnSpc>
                <a:spcPts val="15099"/>
              </a:lnSpc>
            </a:pPr>
            <a:r>
              <a:rPr lang="en-US" sz="15099" b="1">
                <a:solidFill>
                  <a:srgbClr val="03275A"/>
                </a:solidFill>
                <a:latin typeface="Nunito Sans Bold"/>
                <a:ea typeface="Nunito Sans Bold"/>
                <a:cs typeface="Nunito Sans Bold"/>
                <a:sym typeface="Nunito Sans Bold"/>
              </a:rPr>
              <a:t>THANK</a:t>
            </a:r>
          </a:p>
          <a:p>
            <a:pPr algn="ctr">
              <a:lnSpc>
                <a:spcPts val="15099"/>
              </a:lnSpc>
            </a:pPr>
            <a:r>
              <a:rPr lang="en-US" sz="15099" b="1">
                <a:solidFill>
                  <a:srgbClr val="03275A"/>
                </a:solidFill>
                <a:latin typeface="Nunito Sans Bold"/>
                <a:ea typeface="Nunito Sans Bold"/>
                <a:cs typeface="Nunito Sans Bold"/>
                <a:sym typeface="Nunito Sans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528</Words>
  <Application>Microsoft Office PowerPoint</Application>
  <PresentationFormat>Custom</PresentationFormat>
  <Paragraphs>86</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Amiko</vt:lpstr>
      <vt:lpstr>Calibri</vt:lpstr>
      <vt:lpstr>Nunito Sans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Project</dc:title>
  <cp:lastModifiedBy>(FA25-BED-036) AYESHA SAJID</cp:lastModifiedBy>
  <cp:revision>4</cp:revision>
  <dcterms:created xsi:type="dcterms:W3CDTF">2006-08-16T00:00:00Z</dcterms:created>
  <dcterms:modified xsi:type="dcterms:W3CDTF">2026-05-24T03:54:01Z</dcterms:modified>
  <dc:identifier>DAHJ_erdH-I</dc:identifier>
</cp:coreProperties>
</file>